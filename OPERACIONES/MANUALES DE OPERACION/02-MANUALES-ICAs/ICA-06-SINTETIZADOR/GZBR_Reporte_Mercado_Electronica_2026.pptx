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88952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7F4DB6-AD99-BA81-EAD9-3DA9E0FFEB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72F02E-F1BC-88FE-6945-F6427E4D55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83364D-1682-AE5A-F066-D3DC24B41D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1003BD-EC1B-5AFA-5A53-96489F8033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EB0DCE-EC3C-1AC1-CE24-5316551EC4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054616-0FF0-892B-7815-C888979185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636966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7619914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57626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989332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67780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9095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064145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54519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314267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75833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72758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83134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505687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530024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87630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8346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627538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156741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84676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290708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90626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9346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8385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21566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653430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39178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407255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7973427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632122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4318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218988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3062253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300116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2840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1199583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473615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7329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259583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0272284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208208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374182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32382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9478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35083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66379830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149821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57565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654507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1912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579415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535419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848841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83475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994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314948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37766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113337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56591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8257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61515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44261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6391333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160332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00512" name="Rectangle 1"/>
          <p:cNvSpPr/>
          <p:nvPr/>
        </p:nvSpPr>
        <p:spPr bwMode="auto">
          <a:xfrm>
            <a:off x="0" y="0"/>
            <a:ext cx="12188952" cy="5943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1548561" name="TextBox 2"/>
          <p:cNvSpPr txBox="1"/>
          <p:nvPr/>
        </p:nvSpPr>
        <p:spPr bwMode="auto">
          <a:xfrm>
            <a:off x="182880" y="0"/>
            <a:ext cx="11823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FFFFFF"/>
                </a:solidFill>
              </a:rPr>
              <a:t>GZBR GuitarZero to BandRock — Módulo 10 — Electrónica Global</a:t>
            </a:r>
            <a:endParaRPr/>
          </a:p>
        </p:txBody>
      </p:sp>
      <p:sp>
        <p:nvSpPr>
          <p:cNvPr id="1243934130" name="TextBox 3"/>
          <p:cNvSpPr txBox="1"/>
          <p:nvPr/>
        </p:nvSpPr>
        <p:spPr bwMode="auto">
          <a:xfrm>
            <a:off x="182880" y="329184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AACCEE"/>
                </a:solidFill>
              </a:rPr>
              <a:t>Reporte de Mercado · V8.3 · Mar 2026</a:t>
            </a:r>
            <a:endParaRPr/>
          </a:p>
        </p:txBody>
      </p:sp>
      <p:sp>
        <p:nvSpPr>
          <p:cNvPr id="1141023697" name="TextBox 4"/>
          <p:cNvSpPr txBox="1"/>
          <p:nvPr/>
        </p:nvSpPr>
        <p:spPr bwMode="auto">
          <a:xfrm>
            <a:off x="914400" y="822960"/>
            <a:ext cx="10360871" cy="76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4400" b="1" i="0">
                <a:solidFill>
                  <a:srgbClr val="1528D6"/>
                </a:solidFill>
              </a:rPr>
              <a:t>Música Electrónica Global</a:t>
            </a:r>
            <a:endParaRPr sz="4400">
              <a:solidFill>
                <a:srgbClr val="1528D6"/>
              </a:solidFill>
            </a:endParaRPr>
          </a:p>
        </p:txBody>
      </p:sp>
      <p:sp>
        <p:nvSpPr>
          <p:cNvPr id="1711553006" name="TextBox 5"/>
          <p:cNvSpPr txBox="1"/>
          <p:nvPr/>
        </p:nvSpPr>
        <p:spPr bwMode="auto">
          <a:xfrm>
            <a:off x="914400" y="141732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000" b="0" i="0">
                <a:solidFill>
                  <a:srgbClr val="1A1A3E"/>
                </a:solidFill>
              </a:rPr>
              <a:t>Mercado, Aprendizaje y Oportunidad GZBR en LATAM</a:t>
            </a:r>
            <a:endParaRPr/>
          </a:p>
        </p:txBody>
      </p:sp>
      <p:sp>
        <p:nvSpPr>
          <p:cNvPr id="552395735" name="TextBox 6"/>
          <p:cNvSpPr txBox="1"/>
          <p:nvPr/>
        </p:nvSpPr>
        <p:spPr bwMode="auto">
          <a:xfrm>
            <a:off x="1371600" y="1783080"/>
            <a:ext cx="9446112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1">
                <a:solidFill>
                  <a:srgbClr val="555566"/>
                </a:solidFill>
              </a:rPr>
              <a:t>¿Cómo construir el módulo de electrónica más relevante para el creador latinoamericano?</a:t>
            </a:r>
            <a:endParaRPr b="1"/>
          </a:p>
        </p:txBody>
      </p:sp>
      <p:sp>
        <p:nvSpPr>
          <p:cNvPr id="669414579" name="Rectangle 7"/>
          <p:cNvSpPr/>
          <p:nvPr/>
        </p:nvSpPr>
        <p:spPr bwMode="auto">
          <a:xfrm>
            <a:off x="201168" y="2212848"/>
            <a:ext cx="3749039" cy="1005840"/>
          </a:xfrm>
          <a:prstGeom prst="rect">
            <a:avLst/>
          </a:prstGeom>
          <a:solidFill>
            <a:srgbClr val="EAF0F8"/>
          </a:solidFill>
          <a:ln w="3175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8839161" name="TextBox 8"/>
          <p:cNvSpPr txBox="1"/>
          <p:nvPr/>
        </p:nvSpPr>
        <p:spPr bwMode="auto">
          <a:xfrm>
            <a:off x="292608" y="2286000"/>
            <a:ext cx="3567600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Mercado EDM global</a:t>
            </a:r>
            <a:br>
              <a:rPr sz="1200" b="1" i="0">
                <a:solidFill>
                  <a:srgbClr val="555566"/>
                </a:solidFill>
              </a:rPr>
            </a:br>
            <a:r>
              <a:rPr sz="1200" b="1" i="0">
                <a:solidFill>
                  <a:srgbClr val="555566"/>
                </a:solidFill>
              </a:rPr>
              <a:t>2024 (USD)</a:t>
            </a:r>
            <a:endParaRPr sz="1200" b="1"/>
          </a:p>
        </p:txBody>
      </p:sp>
      <p:sp>
        <p:nvSpPr>
          <p:cNvPr id="572071759" name="TextBox 9"/>
          <p:cNvSpPr txBox="1"/>
          <p:nvPr/>
        </p:nvSpPr>
        <p:spPr bwMode="auto">
          <a:xfrm>
            <a:off x="292608" y="26151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600" b="1" i="0">
                <a:solidFill>
                  <a:srgbClr val="007A99"/>
                </a:solidFill>
              </a:rPr>
              <a:t>$11.8B</a:t>
            </a:r>
            <a:endParaRPr/>
          </a:p>
        </p:txBody>
      </p:sp>
      <p:sp>
        <p:nvSpPr>
          <p:cNvPr id="262706954" name="Rectangle 10"/>
          <p:cNvSpPr/>
          <p:nvPr/>
        </p:nvSpPr>
        <p:spPr bwMode="auto">
          <a:xfrm>
            <a:off x="4187952" y="2212848"/>
            <a:ext cx="3749039" cy="1005840"/>
          </a:xfrm>
          <a:prstGeom prst="rect">
            <a:avLst/>
          </a:prstGeom>
          <a:solidFill>
            <a:srgbClr val="EAF0F8"/>
          </a:solidFill>
          <a:ln w="31750">
            <a:solidFill>
              <a:srgbClr val="D84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0821602" name="TextBox 11"/>
          <p:cNvSpPr txBox="1"/>
          <p:nvPr/>
        </p:nvSpPr>
        <p:spPr bwMode="auto">
          <a:xfrm>
            <a:off x="4279392" y="2286000"/>
            <a:ext cx="3567600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Crecimiento</a:t>
            </a:r>
            <a:br>
              <a:rPr sz="1200" b="1" i="0">
                <a:solidFill>
                  <a:srgbClr val="555566"/>
                </a:solidFill>
              </a:rPr>
            </a:br>
            <a:r>
              <a:rPr sz="1200" b="1" i="0">
                <a:solidFill>
                  <a:srgbClr val="555566"/>
                </a:solidFill>
              </a:rPr>
              <a:t>2024–2030</a:t>
            </a:r>
            <a:endParaRPr sz="1200" b="1"/>
          </a:p>
        </p:txBody>
      </p:sp>
      <p:sp>
        <p:nvSpPr>
          <p:cNvPr id="784445351" name="TextBox 12"/>
          <p:cNvSpPr txBox="1"/>
          <p:nvPr/>
        </p:nvSpPr>
        <p:spPr bwMode="auto">
          <a:xfrm>
            <a:off x="4279392" y="26151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600" b="1" i="0">
                <a:solidFill>
                  <a:srgbClr val="D84315"/>
                </a:solidFill>
              </a:rPr>
              <a:t>CAGR 10.5%</a:t>
            </a:r>
            <a:endParaRPr/>
          </a:p>
        </p:txBody>
      </p:sp>
      <p:sp>
        <p:nvSpPr>
          <p:cNvPr id="1337354508" name="Rectangle 13"/>
          <p:cNvSpPr/>
          <p:nvPr/>
        </p:nvSpPr>
        <p:spPr bwMode="auto">
          <a:xfrm>
            <a:off x="8174736" y="2212848"/>
            <a:ext cx="3749039" cy="1005840"/>
          </a:xfrm>
          <a:prstGeom prst="rect">
            <a:avLst/>
          </a:prstGeom>
          <a:solidFill>
            <a:srgbClr val="EAF0F8"/>
          </a:solidFill>
          <a:ln w="317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6549692" name="TextBox 14"/>
          <p:cNvSpPr txBox="1"/>
          <p:nvPr/>
        </p:nvSpPr>
        <p:spPr bwMode="auto">
          <a:xfrm>
            <a:off x="8266176" y="2286000"/>
            <a:ext cx="3567600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Edad pico del</a:t>
            </a:r>
            <a:br>
              <a:rPr sz="1200" b="1" i="0">
                <a:solidFill>
                  <a:srgbClr val="555566"/>
                </a:solidFill>
              </a:rPr>
            </a:br>
            <a:r>
              <a:rPr sz="1200" b="1" i="0">
                <a:solidFill>
                  <a:srgbClr val="555566"/>
                </a:solidFill>
              </a:rPr>
              <a:t>productor</a:t>
            </a:r>
            <a:endParaRPr sz="1200" b="1"/>
          </a:p>
        </p:txBody>
      </p:sp>
      <p:sp>
        <p:nvSpPr>
          <p:cNvPr id="1748046771" name="TextBox 15"/>
          <p:cNvSpPr txBox="1"/>
          <p:nvPr/>
        </p:nvSpPr>
        <p:spPr bwMode="auto">
          <a:xfrm>
            <a:off x="8266176" y="26151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600" b="1" i="0">
                <a:solidFill>
                  <a:srgbClr val="6A1B9A"/>
                </a:solidFill>
              </a:rPr>
              <a:t>18–34</a:t>
            </a:r>
            <a:endParaRPr/>
          </a:p>
        </p:txBody>
      </p:sp>
      <p:sp>
        <p:nvSpPr>
          <p:cNvPr id="1557087709" name="Rectangle 16"/>
          <p:cNvSpPr/>
          <p:nvPr/>
        </p:nvSpPr>
        <p:spPr bwMode="auto">
          <a:xfrm>
            <a:off x="201168" y="3291840"/>
            <a:ext cx="3749039" cy="1005840"/>
          </a:xfrm>
          <a:prstGeom prst="rect">
            <a:avLst/>
          </a:prstGeom>
          <a:solidFill>
            <a:srgbClr val="EAF0F8"/>
          </a:solidFill>
          <a:ln w="317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3616714" name="TextBox 17"/>
          <p:cNvSpPr txBox="1"/>
          <p:nvPr/>
        </p:nvSpPr>
        <p:spPr bwMode="auto">
          <a:xfrm>
            <a:off x="292608" y="3364992"/>
            <a:ext cx="3567600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Tutoriales</a:t>
            </a:r>
            <a:br>
              <a:rPr sz="1200" b="1" i="0">
                <a:solidFill>
                  <a:srgbClr val="555566"/>
                </a:solidFill>
              </a:rPr>
            </a:br>
            <a:r>
              <a:rPr sz="1200" b="1" i="0">
                <a:solidFill>
                  <a:srgbClr val="555566"/>
                </a:solidFill>
              </a:rPr>
              <a:t>en español</a:t>
            </a:r>
            <a:endParaRPr sz="1200" b="1"/>
          </a:p>
        </p:txBody>
      </p:sp>
      <p:sp>
        <p:nvSpPr>
          <p:cNvPr id="991454037" name="TextBox 18"/>
          <p:cNvSpPr txBox="1"/>
          <p:nvPr/>
        </p:nvSpPr>
        <p:spPr bwMode="auto">
          <a:xfrm>
            <a:off x="292608" y="369417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600" b="1" i="0">
                <a:solidFill>
                  <a:srgbClr val="C62828"/>
                </a:solidFill>
              </a:rPr>
              <a:t>12%</a:t>
            </a:r>
            <a:endParaRPr/>
          </a:p>
        </p:txBody>
      </p:sp>
      <p:sp>
        <p:nvSpPr>
          <p:cNvPr id="1417670472" name="Rectangle 19"/>
          <p:cNvSpPr/>
          <p:nvPr/>
        </p:nvSpPr>
        <p:spPr bwMode="auto">
          <a:xfrm>
            <a:off x="4187952" y="3291840"/>
            <a:ext cx="3749039" cy="1005840"/>
          </a:xfrm>
          <a:prstGeom prst="rect">
            <a:avLst/>
          </a:prstGeom>
          <a:solidFill>
            <a:srgbClr val="EAF0F8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9381932" name="TextBox 20"/>
          <p:cNvSpPr txBox="1"/>
          <p:nvPr/>
        </p:nvSpPr>
        <p:spPr bwMode="auto">
          <a:xfrm>
            <a:off x="4279392" y="3364992"/>
            <a:ext cx="3567600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Búsquedas/mes</a:t>
            </a:r>
            <a:br>
              <a:rPr sz="1200" b="1" i="0">
                <a:solidFill>
                  <a:srgbClr val="555566"/>
                </a:solidFill>
              </a:rPr>
            </a:br>
            <a:r>
              <a:rPr sz="1200" b="1" i="0">
                <a:solidFill>
                  <a:srgbClr val="555566"/>
                </a:solidFill>
              </a:rPr>
              <a:t>"aprender electrónica"</a:t>
            </a:r>
            <a:endParaRPr sz="1200" b="1"/>
          </a:p>
        </p:txBody>
      </p:sp>
      <p:sp>
        <p:nvSpPr>
          <p:cNvPr id="1060086183" name="TextBox 21"/>
          <p:cNvSpPr txBox="1"/>
          <p:nvPr/>
        </p:nvSpPr>
        <p:spPr bwMode="auto">
          <a:xfrm>
            <a:off x="4279392" y="369417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600" b="1" i="0">
                <a:solidFill>
                  <a:srgbClr val="2E7D32"/>
                </a:solidFill>
              </a:rPr>
              <a:t>340K+</a:t>
            </a:r>
            <a:endParaRPr/>
          </a:p>
        </p:txBody>
      </p:sp>
      <p:sp>
        <p:nvSpPr>
          <p:cNvPr id="1575984790" name="Rectangle 22"/>
          <p:cNvSpPr/>
          <p:nvPr/>
        </p:nvSpPr>
        <p:spPr bwMode="auto">
          <a:xfrm>
            <a:off x="8174736" y="3291840"/>
            <a:ext cx="3749039" cy="1005840"/>
          </a:xfrm>
          <a:prstGeom prst="rect">
            <a:avLst/>
          </a:prstGeom>
          <a:solidFill>
            <a:srgbClr val="EAF0F8"/>
          </a:solidFill>
          <a:ln w="317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491127" name="TextBox 23"/>
          <p:cNvSpPr txBox="1"/>
          <p:nvPr/>
        </p:nvSpPr>
        <p:spPr bwMode="auto">
          <a:xfrm>
            <a:off x="8266176" y="3364992"/>
            <a:ext cx="3567600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Género más escuchado</a:t>
            </a:r>
            <a:br>
              <a:rPr sz="1200" b="1" i="0">
                <a:solidFill>
                  <a:srgbClr val="555566"/>
                </a:solidFill>
              </a:rPr>
            </a:br>
            <a:r>
              <a:rPr sz="1200" b="1" i="0">
                <a:solidFill>
                  <a:srgbClr val="555566"/>
                </a:solidFill>
              </a:rPr>
              <a:t>globalmente</a:t>
            </a:r>
            <a:endParaRPr sz="1200" b="1"/>
          </a:p>
        </p:txBody>
      </p:sp>
      <p:sp>
        <p:nvSpPr>
          <p:cNvPr id="871926013" name="TextBox 24"/>
          <p:cNvSpPr txBox="1"/>
          <p:nvPr/>
        </p:nvSpPr>
        <p:spPr bwMode="auto">
          <a:xfrm>
            <a:off x="8266176" y="369417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600" b="1" i="0">
                <a:solidFill>
                  <a:srgbClr val="F9A825"/>
                </a:solidFill>
              </a:rPr>
              <a:t>#2</a:t>
            </a:r>
            <a:endParaRPr/>
          </a:p>
        </p:txBody>
      </p:sp>
      <p:sp>
        <p:nvSpPr>
          <p:cNvPr id="1982069950" name="Rectangle 25"/>
          <p:cNvSpPr/>
          <p:nvPr/>
        </p:nvSpPr>
        <p:spPr bwMode="auto">
          <a:xfrm>
            <a:off x="457200" y="4407408"/>
            <a:ext cx="11274552" cy="1572768"/>
          </a:xfrm>
          <a:prstGeom prst="rect">
            <a:avLst/>
          </a:prstGeom>
          <a:solidFill>
            <a:srgbClr val="EAF0F8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1778159" name="TextBox 26"/>
          <p:cNvSpPr txBox="1"/>
          <p:nvPr/>
        </p:nvSpPr>
        <p:spPr bwMode="auto">
          <a:xfrm>
            <a:off x="640080" y="4553712"/>
            <a:ext cx="10910231" cy="73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1A1A3E"/>
                </a:solidFill>
              </a:rPr>
              <a:t>Este reporte analiza el ecosistema global de música electrónica con enfoque en oportunidades educativas para GZBR. Identifica quién quiere aprender, en qué países emergen más creadores, qué hardware es accesible y económico, y cómo posicionar el Módulo 10 de GZBR para capturar el segmento hispanohablante desatendido — el mayor mercado emergente de electrónica en el mundo.</a:t>
            </a:r>
            <a:endParaRPr sz="1400" b="1"/>
          </a:p>
        </p:txBody>
      </p:sp>
      <p:sp>
        <p:nvSpPr>
          <p:cNvPr id="1411813299" name="TextBox 27"/>
          <p:cNvSpPr txBox="1"/>
          <p:nvPr/>
        </p:nvSpPr>
        <p:spPr bwMode="auto">
          <a:xfrm>
            <a:off x="640080" y="5532119"/>
            <a:ext cx="10909871" cy="21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800" b="1" i="1">
                <a:solidFill>
                  <a:srgbClr val="555566"/>
                </a:solidFill>
              </a:rPr>
              <a:t>Fuentes: IFPI 2025 · Statista · MusicWatch · YouTube · </a:t>
            </a:r>
            <a:r>
              <a:rPr sz="800" b="1" i="1">
                <a:solidFill>
                  <a:srgbClr val="555566"/>
                </a:solidFill>
              </a:rPr>
              <a:t>Resident </a:t>
            </a:r>
            <a:r>
              <a:rPr sz="800" b="1" i="1">
                <a:solidFill>
                  <a:srgbClr val="555566"/>
                </a:solidFill>
              </a:rPr>
              <a:t>Advisor · Beatport · SoundCloud · Google Trends · Arturia · Roland · IFPI Latin 2025 · Proyecciones GZBR.</a:t>
            </a:r>
            <a:endParaRPr sz="800" b="1"/>
          </a:p>
        </p:txBody>
      </p:sp>
      <p:sp>
        <p:nvSpPr>
          <p:cNvPr id="762107619" name="Rectangle 28"/>
          <p:cNvSpPr/>
          <p:nvPr/>
        </p:nvSpPr>
        <p:spPr bwMode="auto">
          <a:xfrm>
            <a:off x="0" y="6565392"/>
            <a:ext cx="12188952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56698" name="TextBox 29"/>
          <p:cNvSpPr txBox="1"/>
          <p:nvPr/>
        </p:nvSpPr>
        <p:spPr bwMode="auto"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700" b="0" i="0">
                <a:solidFill>
                  <a:srgbClr val="555566"/>
                </a:solidFill>
              </a:rPr>
              <a:t>GZBR GuitarZero to BandRock — Módulo 10: Electrónica Global — V8.3 — Mar 2026 — Uso interno ICA. No distribuir sin autorización.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878874" name="Rectangle 1"/>
          <p:cNvSpPr/>
          <p:nvPr/>
        </p:nvSpPr>
        <p:spPr bwMode="auto">
          <a:xfrm>
            <a:off x="0" y="0"/>
            <a:ext cx="12188952" cy="5943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8918942" name="TextBox 2"/>
          <p:cNvSpPr txBox="1"/>
          <p:nvPr/>
        </p:nvSpPr>
        <p:spPr bwMode="auto">
          <a:xfrm>
            <a:off x="182880" y="0"/>
            <a:ext cx="11823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FFFFFF"/>
                </a:solidFill>
              </a:rPr>
              <a:t>GZBR GuitarZero to BandRock — Módulo 10 — Electrónica Global</a:t>
            </a:r>
            <a:endParaRPr/>
          </a:p>
        </p:txBody>
      </p:sp>
      <p:sp>
        <p:nvSpPr>
          <p:cNvPr id="1597965253" name="TextBox 3"/>
          <p:cNvSpPr txBox="1"/>
          <p:nvPr/>
        </p:nvSpPr>
        <p:spPr bwMode="auto">
          <a:xfrm>
            <a:off x="182880" y="329184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AACCEE"/>
                </a:solidFill>
              </a:rPr>
              <a:t>Reporte de Mercado · V8.3 · Mar 2026</a:t>
            </a:r>
            <a:endParaRPr/>
          </a:p>
        </p:txBody>
      </p:sp>
      <p:sp>
        <p:nvSpPr>
          <p:cNvPr id="295302927" name="Rectangle 4"/>
          <p:cNvSpPr/>
          <p:nvPr/>
        </p:nvSpPr>
        <p:spPr bwMode="auto">
          <a:xfrm>
            <a:off x="0" y="658368"/>
            <a:ext cx="12188952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0149030" name="TextBox 5"/>
          <p:cNvSpPr txBox="1"/>
          <p:nvPr/>
        </p:nvSpPr>
        <p:spPr bwMode="auto">
          <a:xfrm>
            <a:off x="182880" y="658368"/>
            <a:ext cx="11823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1" i="0">
                <a:solidFill>
                  <a:srgbClr val="FFFFFF"/>
                </a:solidFill>
              </a:rPr>
              <a:t>SECCIÓN 1 — Mercado Global EDM &amp; Subgéneros</a:t>
            </a:r>
            <a:endParaRPr/>
          </a:p>
        </p:txBody>
      </p:sp>
      <p:sp>
        <p:nvSpPr>
          <p:cNvPr id="162338418" name="Rectangle 6"/>
          <p:cNvSpPr/>
          <p:nvPr/>
        </p:nvSpPr>
        <p:spPr bwMode="auto">
          <a:xfrm>
            <a:off x="274320" y="1097280"/>
            <a:ext cx="7132320" cy="2743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2546090" name="TextBox 7"/>
          <p:cNvSpPr txBox="1"/>
          <p:nvPr/>
        </p:nvSpPr>
        <p:spPr bwMode="auto">
          <a:xfrm>
            <a:off x="274320" y="1097280"/>
            <a:ext cx="7132680" cy="33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1A1A3E"/>
                </a:solidFill>
              </a:rPr>
              <a:t>Mercado Global EDM (Billones USD) · 2019–2030</a:t>
            </a:r>
            <a:endParaRPr sz="1600"/>
          </a:p>
        </p:txBody>
      </p:sp>
      <p:sp>
        <p:nvSpPr>
          <p:cNvPr id="1853356443" name="Rectangle 8"/>
          <p:cNvSpPr/>
          <p:nvPr/>
        </p:nvSpPr>
        <p:spPr bwMode="auto">
          <a:xfrm>
            <a:off x="642692" y="2797702"/>
            <a:ext cx="470262" cy="539857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594392" name="TextBox 9"/>
          <p:cNvSpPr txBox="1"/>
          <p:nvPr/>
        </p:nvSpPr>
        <p:spPr bwMode="auto">
          <a:xfrm flipH="0" flipV="0">
            <a:off x="548639" y="2596533"/>
            <a:ext cx="66088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1A1A3E"/>
                </a:solidFill>
              </a:rPr>
              <a:t>$7.9B</a:t>
            </a:r>
            <a:endParaRPr sz="900" b="1"/>
          </a:p>
        </p:txBody>
      </p:sp>
      <p:sp>
        <p:nvSpPr>
          <p:cNvPr id="1365608859" name="TextBox 10"/>
          <p:cNvSpPr txBox="1"/>
          <p:nvPr/>
        </p:nvSpPr>
        <p:spPr bwMode="auto">
          <a:xfrm>
            <a:off x="548640" y="3374136"/>
            <a:ext cx="65980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555566"/>
                </a:solidFill>
              </a:rPr>
              <a:t>2019</a:t>
            </a:r>
            <a:endParaRPr sz="900" b="1"/>
          </a:p>
        </p:txBody>
      </p:sp>
      <p:sp>
        <p:nvSpPr>
          <p:cNvPr id="1765127202" name="Rectangle 11"/>
          <p:cNvSpPr/>
          <p:nvPr/>
        </p:nvSpPr>
        <p:spPr bwMode="auto">
          <a:xfrm>
            <a:off x="1301060" y="2934375"/>
            <a:ext cx="470262" cy="403184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1436086" name="TextBox 12"/>
          <p:cNvSpPr txBox="1"/>
          <p:nvPr/>
        </p:nvSpPr>
        <p:spPr bwMode="auto">
          <a:xfrm flipH="0" flipV="0">
            <a:off x="1207008" y="2733206"/>
            <a:ext cx="66088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1A1A3E"/>
                </a:solidFill>
              </a:rPr>
              <a:t>$5.9B</a:t>
            </a:r>
            <a:endParaRPr sz="900" b="1"/>
          </a:p>
        </p:txBody>
      </p:sp>
      <p:sp>
        <p:nvSpPr>
          <p:cNvPr id="312103677" name="TextBox 13"/>
          <p:cNvSpPr txBox="1"/>
          <p:nvPr/>
        </p:nvSpPr>
        <p:spPr bwMode="auto">
          <a:xfrm>
            <a:off x="1207008" y="3374136"/>
            <a:ext cx="65980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555566"/>
                </a:solidFill>
              </a:rPr>
              <a:t>2020</a:t>
            </a:r>
            <a:endParaRPr sz="900" b="1"/>
          </a:p>
        </p:txBody>
      </p:sp>
      <p:sp>
        <p:nvSpPr>
          <p:cNvPr id="2094529920" name="Rectangle 14"/>
          <p:cNvSpPr/>
          <p:nvPr/>
        </p:nvSpPr>
        <p:spPr bwMode="auto">
          <a:xfrm>
            <a:off x="1959428" y="2866038"/>
            <a:ext cx="470262" cy="471521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0318373" name="TextBox 15"/>
          <p:cNvSpPr txBox="1"/>
          <p:nvPr/>
        </p:nvSpPr>
        <p:spPr bwMode="auto">
          <a:xfrm flipH="0" flipV="0">
            <a:off x="1865376" y="2664869"/>
            <a:ext cx="66088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1A1A3E"/>
                </a:solidFill>
              </a:rPr>
              <a:t>$6.9B</a:t>
            </a:r>
            <a:endParaRPr sz="900" b="1"/>
          </a:p>
        </p:txBody>
      </p:sp>
      <p:sp>
        <p:nvSpPr>
          <p:cNvPr id="213352878" name="TextBox 16"/>
          <p:cNvSpPr txBox="1"/>
          <p:nvPr/>
        </p:nvSpPr>
        <p:spPr bwMode="auto">
          <a:xfrm>
            <a:off x="1865376" y="3374136"/>
            <a:ext cx="65980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555566"/>
                </a:solidFill>
              </a:rPr>
              <a:t>2021</a:t>
            </a:r>
            <a:endParaRPr sz="900" b="1"/>
          </a:p>
        </p:txBody>
      </p:sp>
      <p:sp>
        <p:nvSpPr>
          <p:cNvPr id="1483205383" name="Rectangle 17"/>
          <p:cNvSpPr/>
          <p:nvPr/>
        </p:nvSpPr>
        <p:spPr bwMode="auto">
          <a:xfrm>
            <a:off x="2617796" y="2708865"/>
            <a:ext cx="470262" cy="628694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5355796" name="TextBox 18"/>
          <p:cNvSpPr txBox="1"/>
          <p:nvPr/>
        </p:nvSpPr>
        <p:spPr bwMode="auto">
          <a:xfrm flipH="0" flipV="0">
            <a:off x="2523744" y="2507696"/>
            <a:ext cx="66088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1A1A3E"/>
                </a:solidFill>
              </a:rPr>
              <a:t>$9.2B</a:t>
            </a:r>
            <a:endParaRPr sz="900" b="1"/>
          </a:p>
        </p:txBody>
      </p:sp>
      <p:sp>
        <p:nvSpPr>
          <p:cNvPr id="916230049" name="TextBox 19"/>
          <p:cNvSpPr txBox="1"/>
          <p:nvPr/>
        </p:nvSpPr>
        <p:spPr bwMode="auto">
          <a:xfrm>
            <a:off x="2523744" y="3374136"/>
            <a:ext cx="65980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555566"/>
                </a:solidFill>
              </a:rPr>
              <a:t>2022</a:t>
            </a:r>
            <a:endParaRPr sz="900" b="1"/>
          </a:p>
        </p:txBody>
      </p:sp>
      <p:sp>
        <p:nvSpPr>
          <p:cNvPr id="107411601" name="Rectangle 20"/>
          <p:cNvSpPr/>
          <p:nvPr/>
        </p:nvSpPr>
        <p:spPr bwMode="auto">
          <a:xfrm>
            <a:off x="3276164" y="2620027"/>
            <a:ext cx="470262" cy="717532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6169085" name="TextBox 21"/>
          <p:cNvSpPr txBox="1"/>
          <p:nvPr/>
        </p:nvSpPr>
        <p:spPr bwMode="auto">
          <a:xfrm flipH="0" flipV="0">
            <a:off x="3182112" y="2418858"/>
            <a:ext cx="66088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1A1A3E"/>
                </a:solidFill>
              </a:rPr>
              <a:t>$10.5B</a:t>
            </a:r>
            <a:endParaRPr sz="900" b="1"/>
          </a:p>
        </p:txBody>
      </p:sp>
      <p:sp>
        <p:nvSpPr>
          <p:cNvPr id="255971063" name="TextBox 22"/>
          <p:cNvSpPr txBox="1"/>
          <p:nvPr/>
        </p:nvSpPr>
        <p:spPr bwMode="auto">
          <a:xfrm>
            <a:off x="3182112" y="3374136"/>
            <a:ext cx="65980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555566"/>
                </a:solidFill>
              </a:rPr>
              <a:t>2023</a:t>
            </a:r>
            <a:endParaRPr sz="900" b="1"/>
          </a:p>
        </p:txBody>
      </p:sp>
      <p:sp>
        <p:nvSpPr>
          <p:cNvPr id="622931803" name="Rectangle 23"/>
          <p:cNvSpPr/>
          <p:nvPr/>
        </p:nvSpPr>
        <p:spPr bwMode="auto">
          <a:xfrm>
            <a:off x="3934532" y="2531190"/>
            <a:ext cx="470262" cy="806369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091246" name="TextBox 24"/>
          <p:cNvSpPr txBox="1"/>
          <p:nvPr/>
        </p:nvSpPr>
        <p:spPr bwMode="auto">
          <a:xfrm flipH="0" flipV="0">
            <a:off x="3840480" y="2330021"/>
            <a:ext cx="66088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1A1A3E"/>
                </a:solidFill>
              </a:rPr>
              <a:t>$11.8B</a:t>
            </a:r>
            <a:endParaRPr sz="900" b="1"/>
          </a:p>
        </p:txBody>
      </p:sp>
      <p:sp>
        <p:nvSpPr>
          <p:cNvPr id="1691567964" name="TextBox 25"/>
          <p:cNvSpPr txBox="1"/>
          <p:nvPr/>
        </p:nvSpPr>
        <p:spPr bwMode="auto">
          <a:xfrm>
            <a:off x="3840480" y="3374136"/>
            <a:ext cx="65980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555566"/>
                </a:solidFill>
              </a:rPr>
              <a:t>2024</a:t>
            </a:r>
            <a:endParaRPr sz="900" b="1"/>
          </a:p>
        </p:txBody>
      </p:sp>
      <p:sp>
        <p:nvSpPr>
          <p:cNvPr id="269251825" name="Rectangle 26"/>
          <p:cNvSpPr/>
          <p:nvPr/>
        </p:nvSpPr>
        <p:spPr bwMode="auto">
          <a:xfrm>
            <a:off x="4592900" y="2442353"/>
            <a:ext cx="470262" cy="895206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0942501" name="TextBox 27"/>
          <p:cNvSpPr txBox="1"/>
          <p:nvPr/>
        </p:nvSpPr>
        <p:spPr bwMode="auto">
          <a:xfrm flipH="0" flipV="0">
            <a:off x="4498848" y="2241184"/>
            <a:ext cx="66088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1A1A3E"/>
                </a:solidFill>
              </a:rPr>
              <a:t>$13.1B</a:t>
            </a:r>
            <a:endParaRPr sz="900" b="1"/>
          </a:p>
        </p:txBody>
      </p:sp>
      <p:sp>
        <p:nvSpPr>
          <p:cNvPr id="1729860002" name="TextBox 28"/>
          <p:cNvSpPr txBox="1"/>
          <p:nvPr/>
        </p:nvSpPr>
        <p:spPr bwMode="auto">
          <a:xfrm>
            <a:off x="4498848" y="3374136"/>
            <a:ext cx="65980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555566"/>
                </a:solidFill>
              </a:rPr>
              <a:t>2025P</a:t>
            </a:r>
            <a:endParaRPr sz="900" b="1"/>
          </a:p>
        </p:txBody>
      </p:sp>
      <p:sp>
        <p:nvSpPr>
          <p:cNvPr id="1224423681" name="Rectangle 29"/>
          <p:cNvSpPr/>
          <p:nvPr/>
        </p:nvSpPr>
        <p:spPr bwMode="auto">
          <a:xfrm>
            <a:off x="5251268" y="2333014"/>
            <a:ext cx="470262" cy="1004545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4036287" name="TextBox 30"/>
          <p:cNvSpPr txBox="1"/>
          <p:nvPr/>
        </p:nvSpPr>
        <p:spPr bwMode="auto">
          <a:xfrm flipH="0" flipV="0">
            <a:off x="5157216" y="2131845"/>
            <a:ext cx="66088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1A1A3E"/>
                </a:solidFill>
              </a:rPr>
              <a:t>$14.7B</a:t>
            </a:r>
            <a:endParaRPr sz="900" b="1"/>
          </a:p>
        </p:txBody>
      </p:sp>
      <p:sp>
        <p:nvSpPr>
          <p:cNvPr id="629091155" name="TextBox 31"/>
          <p:cNvSpPr txBox="1"/>
          <p:nvPr/>
        </p:nvSpPr>
        <p:spPr bwMode="auto">
          <a:xfrm>
            <a:off x="5157216" y="3374136"/>
            <a:ext cx="65980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555566"/>
                </a:solidFill>
              </a:rPr>
              <a:t>2026P</a:t>
            </a:r>
            <a:endParaRPr sz="900" b="1"/>
          </a:p>
        </p:txBody>
      </p:sp>
      <p:sp>
        <p:nvSpPr>
          <p:cNvPr id="531988568" name="Rectangle 32"/>
          <p:cNvSpPr/>
          <p:nvPr/>
        </p:nvSpPr>
        <p:spPr bwMode="auto">
          <a:xfrm>
            <a:off x="5909635" y="2093837"/>
            <a:ext cx="470262" cy="1243722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8426681" name="TextBox 33"/>
          <p:cNvSpPr txBox="1"/>
          <p:nvPr/>
        </p:nvSpPr>
        <p:spPr bwMode="auto">
          <a:xfrm flipH="0" flipV="0">
            <a:off x="5815584" y="1892668"/>
            <a:ext cx="66088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1A1A3E"/>
                </a:solidFill>
              </a:rPr>
              <a:t>$18.2B</a:t>
            </a:r>
            <a:endParaRPr sz="900" b="1"/>
          </a:p>
        </p:txBody>
      </p:sp>
      <p:sp>
        <p:nvSpPr>
          <p:cNvPr id="1415200887" name="TextBox 34"/>
          <p:cNvSpPr txBox="1"/>
          <p:nvPr/>
        </p:nvSpPr>
        <p:spPr bwMode="auto">
          <a:xfrm>
            <a:off x="5815584" y="3374136"/>
            <a:ext cx="65980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555566"/>
                </a:solidFill>
              </a:rPr>
              <a:t>2028P</a:t>
            </a:r>
            <a:endParaRPr sz="900" b="1"/>
          </a:p>
        </p:txBody>
      </p:sp>
      <p:sp>
        <p:nvSpPr>
          <p:cNvPr id="341805638" name="Rectangle 35"/>
          <p:cNvSpPr/>
          <p:nvPr/>
        </p:nvSpPr>
        <p:spPr bwMode="auto">
          <a:xfrm>
            <a:off x="6568004" y="1717987"/>
            <a:ext cx="470262" cy="1619572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2022680" name="TextBox 36"/>
          <p:cNvSpPr txBox="1"/>
          <p:nvPr/>
        </p:nvSpPr>
        <p:spPr bwMode="auto">
          <a:xfrm flipH="0" flipV="0">
            <a:off x="6473952" y="1516818"/>
            <a:ext cx="66088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1A1A3E"/>
                </a:solidFill>
              </a:rPr>
              <a:t>$23.7B</a:t>
            </a:r>
            <a:endParaRPr sz="900" b="1"/>
          </a:p>
        </p:txBody>
      </p:sp>
      <p:sp>
        <p:nvSpPr>
          <p:cNvPr id="1097234413" name="TextBox 37"/>
          <p:cNvSpPr txBox="1"/>
          <p:nvPr/>
        </p:nvSpPr>
        <p:spPr bwMode="auto">
          <a:xfrm>
            <a:off x="6473952" y="3374136"/>
            <a:ext cx="65980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555566"/>
                </a:solidFill>
              </a:rPr>
              <a:t>2030P</a:t>
            </a:r>
            <a:endParaRPr sz="900" b="1"/>
          </a:p>
        </p:txBody>
      </p:sp>
      <p:sp>
        <p:nvSpPr>
          <p:cNvPr id="1922702725" name="TextBox 38"/>
          <p:cNvSpPr txBox="1"/>
          <p:nvPr/>
        </p:nvSpPr>
        <p:spPr bwMode="auto">
          <a:xfrm>
            <a:off x="274320" y="3584448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700" b="0" i="0">
                <a:solidFill>
                  <a:srgbClr val="555566"/>
                </a:solidFill>
              </a:rPr>
              <a:t>CAGR proyectado 2024–2030: +10.5%  |  Gris = real  |  Azul = proyección  |  Naranja = 2030P</a:t>
            </a:r>
            <a:endParaRPr/>
          </a:p>
        </p:txBody>
      </p:sp>
      <p:sp>
        <p:nvSpPr>
          <p:cNvPr id="1475862273" name="Rectangle 39"/>
          <p:cNvSpPr/>
          <p:nvPr/>
        </p:nvSpPr>
        <p:spPr bwMode="auto">
          <a:xfrm>
            <a:off x="7543800" y="1097280"/>
            <a:ext cx="4389120" cy="2743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5579348" name="TextBox 40"/>
          <p:cNvSpPr txBox="1"/>
          <p:nvPr/>
        </p:nvSpPr>
        <p:spPr bwMode="auto">
          <a:xfrm>
            <a:off x="7543800" y="1097280"/>
            <a:ext cx="438948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1A1A3E"/>
                </a:solidFill>
              </a:rPr>
              <a:t>Share por Subgénero · Streaming Global 2024</a:t>
            </a:r>
            <a:endParaRPr sz="1400"/>
          </a:p>
        </p:txBody>
      </p:sp>
      <p:sp>
        <p:nvSpPr>
          <p:cNvPr id="1675588248" name="Rectangle 41"/>
          <p:cNvSpPr/>
          <p:nvPr/>
        </p:nvSpPr>
        <p:spPr bwMode="auto">
          <a:xfrm>
            <a:off x="9144000" y="1485900"/>
            <a:ext cx="2324745" cy="237744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0558396" name="TextBox 42"/>
          <p:cNvSpPr txBox="1"/>
          <p:nvPr/>
        </p:nvSpPr>
        <p:spPr bwMode="auto">
          <a:xfrm>
            <a:off x="11523609" y="1485900"/>
            <a:ext cx="59580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1A1A3E"/>
                </a:solidFill>
              </a:rPr>
              <a:t>32%</a:t>
            </a:r>
            <a:endParaRPr sz="1100" b="1"/>
          </a:p>
        </p:txBody>
      </p:sp>
      <p:sp>
        <p:nvSpPr>
          <p:cNvPr id="1442790504" name="TextBox 43"/>
          <p:cNvSpPr txBox="1"/>
          <p:nvPr/>
        </p:nvSpPr>
        <p:spPr bwMode="auto">
          <a:xfrm>
            <a:off x="7562088" y="1485900"/>
            <a:ext cx="1555919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1" i="0">
                <a:solidFill>
                  <a:srgbClr val="555566"/>
                </a:solidFill>
              </a:rPr>
              <a:t>House &amp; Deep House</a:t>
            </a:r>
            <a:endParaRPr sz="1100" b="1"/>
          </a:p>
        </p:txBody>
      </p:sp>
      <p:sp>
        <p:nvSpPr>
          <p:cNvPr id="1323987135" name="Rectangle 44"/>
          <p:cNvSpPr/>
          <p:nvPr/>
        </p:nvSpPr>
        <p:spPr bwMode="auto">
          <a:xfrm>
            <a:off x="9144000" y="1842516"/>
            <a:ext cx="1525614" cy="23774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1804244" name="TextBox 45"/>
          <p:cNvSpPr txBox="1"/>
          <p:nvPr/>
        </p:nvSpPr>
        <p:spPr bwMode="auto">
          <a:xfrm>
            <a:off x="10724477" y="1842516"/>
            <a:ext cx="59580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1A1A3E"/>
                </a:solidFill>
              </a:rPr>
              <a:t>21%</a:t>
            </a:r>
            <a:endParaRPr sz="1100" b="1"/>
          </a:p>
        </p:txBody>
      </p:sp>
      <p:sp>
        <p:nvSpPr>
          <p:cNvPr id="1794374176" name="TextBox 46"/>
          <p:cNvSpPr txBox="1"/>
          <p:nvPr/>
        </p:nvSpPr>
        <p:spPr bwMode="auto">
          <a:xfrm>
            <a:off x="7562088" y="1842516"/>
            <a:ext cx="1555919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1" i="0">
                <a:solidFill>
                  <a:srgbClr val="555566"/>
                </a:solidFill>
              </a:rPr>
              <a:t>Techno</a:t>
            </a:r>
            <a:endParaRPr sz="1100" b="1"/>
          </a:p>
        </p:txBody>
      </p:sp>
      <p:sp>
        <p:nvSpPr>
          <p:cNvPr id="1087821186" name="Rectangle 47"/>
          <p:cNvSpPr/>
          <p:nvPr/>
        </p:nvSpPr>
        <p:spPr bwMode="auto">
          <a:xfrm>
            <a:off x="9144000" y="2199132"/>
            <a:ext cx="1380317" cy="237744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2522968" name="TextBox 48"/>
          <p:cNvSpPr txBox="1"/>
          <p:nvPr/>
        </p:nvSpPr>
        <p:spPr bwMode="auto">
          <a:xfrm>
            <a:off x="10579180" y="2199132"/>
            <a:ext cx="59580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1A1A3E"/>
                </a:solidFill>
              </a:rPr>
              <a:t>19%</a:t>
            </a:r>
            <a:endParaRPr sz="1100" b="1"/>
          </a:p>
        </p:txBody>
      </p:sp>
      <p:sp>
        <p:nvSpPr>
          <p:cNvPr id="1893698843" name="TextBox 49"/>
          <p:cNvSpPr txBox="1"/>
          <p:nvPr/>
        </p:nvSpPr>
        <p:spPr bwMode="auto">
          <a:xfrm>
            <a:off x="7562088" y="2199132"/>
            <a:ext cx="1555919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1" i="0">
                <a:solidFill>
                  <a:srgbClr val="555566"/>
                </a:solidFill>
              </a:rPr>
              <a:t>Trap / Bass Music</a:t>
            </a:r>
            <a:endParaRPr sz="1100" b="1"/>
          </a:p>
        </p:txBody>
      </p:sp>
      <p:sp>
        <p:nvSpPr>
          <p:cNvPr id="127312236" name="Rectangle 50"/>
          <p:cNvSpPr/>
          <p:nvPr/>
        </p:nvSpPr>
        <p:spPr bwMode="auto">
          <a:xfrm>
            <a:off x="9144000" y="2555748"/>
            <a:ext cx="871779" cy="23774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7683538" name="TextBox 51"/>
          <p:cNvSpPr txBox="1"/>
          <p:nvPr/>
        </p:nvSpPr>
        <p:spPr bwMode="auto">
          <a:xfrm>
            <a:off x="10070642" y="2555747"/>
            <a:ext cx="59580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1A1A3E"/>
                </a:solidFill>
              </a:rPr>
              <a:t>12%</a:t>
            </a:r>
            <a:endParaRPr sz="1100" b="1"/>
          </a:p>
        </p:txBody>
      </p:sp>
      <p:sp>
        <p:nvSpPr>
          <p:cNvPr id="760602121" name="TextBox 52"/>
          <p:cNvSpPr txBox="1"/>
          <p:nvPr/>
        </p:nvSpPr>
        <p:spPr bwMode="auto">
          <a:xfrm>
            <a:off x="7562088" y="2555747"/>
            <a:ext cx="1555919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1" i="0">
                <a:solidFill>
                  <a:srgbClr val="555566"/>
                </a:solidFill>
              </a:rPr>
              <a:t>Ambient / Downtempo</a:t>
            </a:r>
            <a:endParaRPr sz="1100" b="1"/>
          </a:p>
        </p:txBody>
      </p:sp>
      <p:sp>
        <p:nvSpPr>
          <p:cNvPr id="1363725533" name="Rectangle 53"/>
          <p:cNvSpPr/>
          <p:nvPr/>
        </p:nvSpPr>
        <p:spPr bwMode="auto">
          <a:xfrm>
            <a:off x="9144000" y="2912364"/>
            <a:ext cx="581186" cy="23774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9990205" name="TextBox 54"/>
          <p:cNvSpPr txBox="1"/>
          <p:nvPr/>
        </p:nvSpPr>
        <p:spPr bwMode="auto">
          <a:xfrm>
            <a:off x="9780049" y="2912364"/>
            <a:ext cx="59580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1A1A3E"/>
                </a:solidFill>
              </a:rPr>
              <a:t>8%</a:t>
            </a:r>
            <a:endParaRPr sz="1100" b="1"/>
          </a:p>
        </p:txBody>
      </p:sp>
      <p:sp>
        <p:nvSpPr>
          <p:cNvPr id="2133860374" name="TextBox 55"/>
          <p:cNvSpPr txBox="1"/>
          <p:nvPr/>
        </p:nvSpPr>
        <p:spPr bwMode="auto">
          <a:xfrm>
            <a:off x="7562088" y="2912364"/>
            <a:ext cx="1555919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1" i="0">
                <a:solidFill>
                  <a:srgbClr val="555566"/>
                </a:solidFill>
              </a:rPr>
              <a:t>Drum &amp; Bass</a:t>
            </a:r>
            <a:endParaRPr sz="1100" b="1"/>
          </a:p>
        </p:txBody>
      </p:sp>
      <p:sp>
        <p:nvSpPr>
          <p:cNvPr id="2138591758" name="Rectangle 56"/>
          <p:cNvSpPr/>
          <p:nvPr/>
        </p:nvSpPr>
        <p:spPr bwMode="auto">
          <a:xfrm>
            <a:off x="9144000" y="3268980"/>
            <a:ext cx="581186" cy="237744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4298232" name="TextBox 57"/>
          <p:cNvSpPr txBox="1"/>
          <p:nvPr/>
        </p:nvSpPr>
        <p:spPr bwMode="auto">
          <a:xfrm>
            <a:off x="9780049" y="3268980"/>
            <a:ext cx="59580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1A1A3E"/>
                </a:solidFill>
              </a:rPr>
              <a:t>8%</a:t>
            </a:r>
            <a:endParaRPr sz="1100" b="1"/>
          </a:p>
        </p:txBody>
      </p:sp>
      <p:sp>
        <p:nvSpPr>
          <p:cNvPr id="2072817249" name="TextBox 58"/>
          <p:cNvSpPr txBox="1"/>
          <p:nvPr/>
        </p:nvSpPr>
        <p:spPr bwMode="auto">
          <a:xfrm>
            <a:off x="7562088" y="3268980"/>
            <a:ext cx="1555919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1" i="0">
                <a:solidFill>
                  <a:srgbClr val="555566"/>
                </a:solidFill>
              </a:rPr>
              <a:t>Otros</a:t>
            </a:r>
            <a:endParaRPr sz="1100" b="1"/>
          </a:p>
        </p:txBody>
      </p:sp>
      <p:graphicFrame>
        <p:nvGraphicFramePr>
          <p:cNvPr id="1017391559" name="Table 59"/>
          <p:cNvGraphicFramePr>
            <a:graphicFrameLocks xmlns:a="http://schemas.openxmlformats.org/drawingml/2006/main" noGrp="1"/>
          </p:cNvGraphicFramePr>
          <p:nvPr/>
        </p:nvGraphicFramePr>
        <p:xfrm rot="0">
          <a:off x="274320" y="3931920"/>
          <a:ext cx="11640312" cy="18288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328062"/>
                <a:gridCol w="2328062"/>
                <a:gridCol w="2328062"/>
                <a:gridCol w="2328062"/>
                <a:gridCol w="2328064"/>
              </a:tblGrid>
              <a:tr h="3048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Subgénero</a:t>
                      </a:r>
                      <a:endParaRPr sz="1300" b="1"/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Plataforma líder</a:t>
                      </a:r>
                      <a:endParaRPr sz="1300" b="1"/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Artistas activos</a:t>
                      </a:r>
                      <a:endParaRPr sz="1300" b="1"/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Crecimiento YoY</a:t>
                      </a:r>
                      <a:endParaRPr sz="1300" b="1"/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Audiencia pico</a:t>
                      </a:r>
                      <a:endParaRPr sz="1300" b="1"/>
                    </a:p>
                  </a:txBody>
                  <a:tcPr>
                    <a:solidFill>
                      <a:srgbClr val="6A1B9A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House / Deep</a:t>
                      </a:r>
                      <a:endParaRPr sz="13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Beatport / Spotify</a:t>
                      </a:r>
                      <a:endParaRPr sz="13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180,000+</a:t>
                      </a:r>
                      <a:endParaRPr sz="13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+14%</a:t>
                      </a:r>
                      <a:endParaRPr sz="13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25–35 años</a:t>
                      </a:r>
                      <a:endParaRPr sz="1300" b="1"/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Techno</a:t>
                      </a:r>
                      <a:endParaRPr sz="13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Resident Advisor / SoundCloud</a:t>
                      </a:r>
                      <a:endParaRPr sz="13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95,000+</a:t>
                      </a:r>
                      <a:endParaRPr sz="13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+11%</a:t>
                      </a:r>
                      <a:endParaRPr sz="13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22–34 años</a:t>
                      </a:r>
                      <a:endParaRPr sz="1300" b="1"/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Trap / Bass</a:t>
                      </a:r>
                      <a:endParaRPr sz="13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SoundCloud / TikTok</a:t>
                      </a:r>
                      <a:endParaRPr sz="13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310,000+</a:t>
                      </a:r>
                      <a:endParaRPr sz="13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+28% ↑</a:t>
                      </a:r>
                      <a:endParaRPr sz="13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16–28 años</a:t>
                      </a:r>
                      <a:endParaRPr sz="1300" b="1"/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Ambient / Mod.</a:t>
                      </a:r>
                      <a:endParaRPr sz="13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Bandcamp / YouTube</a:t>
                      </a:r>
                      <a:endParaRPr sz="13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65,000+</a:t>
                      </a:r>
                      <a:endParaRPr sz="13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+9%</a:t>
                      </a:r>
                      <a:endParaRPr sz="13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28–42 años</a:t>
                      </a:r>
                      <a:endParaRPr sz="1300" b="1"/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Drum &amp; Bass</a:t>
                      </a:r>
                      <a:endParaRPr sz="13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YouTube / Mixcloud</a:t>
                      </a:r>
                      <a:endParaRPr sz="13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48,000+</a:t>
                      </a:r>
                      <a:endParaRPr sz="13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+7%</a:t>
                      </a:r>
                      <a:endParaRPr sz="13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111111"/>
                          </a:solidFill>
                        </a:rPr>
                        <a:t>20–35 años</a:t>
                      </a:r>
                      <a:endParaRPr sz="1300" b="1"/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70825739" name="Rectangle 60"/>
          <p:cNvSpPr/>
          <p:nvPr/>
        </p:nvSpPr>
        <p:spPr bwMode="auto">
          <a:xfrm>
            <a:off x="274320" y="5833872"/>
            <a:ext cx="11640312" cy="731520"/>
          </a:xfrm>
          <a:prstGeom prst="rect">
            <a:avLst/>
          </a:prstGeom>
          <a:solidFill>
            <a:srgbClr val="EAF0F8"/>
          </a:solidFill>
          <a:ln w="25400">
            <a:solidFill>
              <a:srgbClr val="D84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200"/>
          </a:p>
        </p:txBody>
      </p:sp>
      <p:sp>
        <p:nvSpPr>
          <p:cNvPr id="140380470" name="TextBox 61"/>
          <p:cNvSpPr txBox="1"/>
          <p:nvPr/>
        </p:nvSpPr>
        <p:spPr bwMode="auto">
          <a:xfrm>
            <a:off x="384048" y="5980176"/>
            <a:ext cx="11421215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D84315"/>
                </a:solidFill>
              </a:rPr>
              <a:t>DATO CLAVE: House + Techno = 53% del mercado. Trap/Bass crece +28% YoY (mayor tasa). Para GZBR: cubrir House + Techno + Trap multiplica el TAM del módulo por 3×.</a:t>
            </a:r>
            <a:endParaRPr sz="1400"/>
          </a:p>
        </p:txBody>
      </p:sp>
      <p:sp>
        <p:nvSpPr>
          <p:cNvPr id="1988757431" name="Rectangle 62"/>
          <p:cNvSpPr/>
          <p:nvPr/>
        </p:nvSpPr>
        <p:spPr bwMode="auto">
          <a:xfrm>
            <a:off x="0" y="6565392"/>
            <a:ext cx="12188952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9108802" name="TextBox 63"/>
          <p:cNvSpPr txBox="1"/>
          <p:nvPr/>
        </p:nvSpPr>
        <p:spPr bwMode="auto"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700" b="0" i="0">
                <a:solidFill>
                  <a:srgbClr val="555566"/>
                </a:solidFill>
              </a:rPr>
              <a:t>GZBR GuitarZero to BandRock — Módulo 10: Electrónica Global — V8.3 — Mar 2026 — Uso interno ICA. No distribuir sin autorización.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763510" name="Rectangle 1"/>
          <p:cNvSpPr/>
          <p:nvPr/>
        </p:nvSpPr>
        <p:spPr bwMode="auto">
          <a:xfrm>
            <a:off x="0" y="0"/>
            <a:ext cx="12188952" cy="5943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7482448" name="TextBox 2"/>
          <p:cNvSpPr txBox="1"/>
          <p:nvPr/>
        </p:nvSpPr>
        <p:spPr bwMode="auto">
          <a:xfrm>
            <a:off x="182880" y="0"/>
            <a:ext cx="11824991" cy="289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FFFFFF"/>
                </a:solidFill>
              </a:rPr>
              <a:t>GZBR GuitarZero to BandRock — Módulo 10 — Electrónica Global</a:t>
            </a:r>
            <a:endParaRPr b="1"/>
          </a:p>
        </p:txBody>
      </p:sp>
      <p:sp>
        <p:nvSpPr>
          <p:cNvPr id="1930728383" name="TextBox 3"/>
          <p:cNvSpPr txBox="1"/>
          <p:nvPr/>
        </p:nvSpPr>
        <p:spPr bwMode="auto">
          <a:xfrm>
            <a:off x="182880" y="329184"/>
            <a:ext cx="11823552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AACCEE"/>
                </a:solidFill>
              </a:rPr>
              <a:t>Reporte de Mercado · V8.3 · Mar 2026</a:t>
            </a:r>
            <a:endParaRPr b="1"/>
          </a:p>
        </p:txBody>
      </p:sp>
      <p:sp>
        <p:nvSpPr>
          <p:cNvPr id="130825865" name="Rectangle 4"/>
          <p:cNvSpPr/>
          <p:nvPr/>
        </p:nvSpPr>
        <p:spPr bwMode="auto">
          <a:xfrm>
            <a:off x="0" y="658368"/>
            <a:ext cx="12188952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8468415" name="TextBox 5"/>
          <p:cNvSpPr txBox="1"/>
          <p:nvPr/>
        </p:nvSpPr>
        <p:spPr bwMode="auto">
          <a:xfrm>
            <a:off x="182880" y="658368"/>
            <a:ext cx="11823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1" i="0">
                <a:solidFill>
                  <a:srgbClr val="FFFFFF"/>
                </a:solidFill>
              </a:rPr>
              <a:t>SECCIÓN 2 — ¿Quién Quiere Aprender? Demografía del Productor Electrónico</a:t>
            </a:r>
            <a:endParaRPr/>
          </a:p>
        </p:txBody>
      </p:sp>
      <p:sp>
        <p:nvSpPr>
          <p:cNvPr id="325708074" name="Rectangle 6"/>
          <p:cNvSpPr/>
          <p:nvPr/>
        </p:nvSpPr>
        <p:spPr bwMode="auto">
          <a:xfrm>
            <a:off x="274320" y="1097280"/>
            <a:ext cx="5029200" cy="2286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8500369" name="TextBox 7"/>
          <p:cNvSpPr txBox="1"/>
          <p:nvPr/>
        </p:nvSpPr>
        <p:spPr bwMode="auto">
          <a:xfrm>
            <a:off x="274320" y="1097280"/>
            <a:ext cx="5029559" cy="33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1A1A3E"/>
                </a:solidFill>
              </a:rPr>
              <a:t>Edad del Estudiante de Electrónica</a:t>
            </a:r>
            <a:endParaRPr sz="1600"/>
          </a:p>
        </p:txBody>
      </p:sp>
      <p:sp>
        <p:nvSpPr>
          <p:cNvPr id="1770761554" name="Rectangle 8"/>
          <p:cNvSpPr/>
          <p:nvPr/>
        </p:nvSpPr>
        <p:spPr bwMode="auto">
          <a:xfrm>
            <a:off x="655320" y="2540466"/>
            <a:ext cx="533400" cy="339893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6994274" name="TextBox 9"/>
          <p:cNvSpPr txBox="1"/>
          <p:nvPr/>
        </p:nvSpPr>
        <p:spPr bwMode="auto">
          <a:xfrm>
            <a:off x="655319" y="2339298"/>
            <a:ext cx="5337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8%</a:t>
            </a:r>
            <a:endParaRPr sz="1200"/>
          </a:p>
        </p:txBody>
      </p:sp>
      <p:sp>
        <p:nvSpPr>
          <p:cNvPr id="226113038" name="TextBox 10"/>
          <p:cNvSpPr txBox="1"/>
          <p:nvPr/>
        </p:nvSpPr>
        <p:spPr bwMode="auto">
          <a:xfrm>
            <a:off x="548640" y="2916936"/>
            <a:ext cx="74747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&lt; 18</a:t>
            </a:r>
            <a:endParaRPr sz="1200" b="1"/>
          </a:p>
        </p:txBody>
      </p:sp>
      <p:sp>
        <p:nvSpPr>
          <p:cNvPr id="315673284" name="Rectangle 11"/>
          <p:cNvSpPr/>
          <p:nvPr/>
        </p:nvSpPr>
        <p:spPr bwMode="auto">
          <a:xfrm>
            <a:off x="1402080" y="1648244"/>
            <a:ext cx="533400" cy="1232115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0893304" name="TextBox 12"/>
          <p:cNvSpPr txBox="1"/>
          <p:nvPr/>
        </p:nvSpPr>
        <p:spPr bwMode="auto">
          <a:xfrm>
            <a:off x="1402079" y="1447075"/>
            <a:ext cx="5337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29%</a:t>
            </a:r>
            <a:endParaRPr sz="1200"/>
          </a:p>
        </p:txBody>
      </p:sp>
      <p:sp>
        <p:nvSpPr>
          <p:cNvPr id="429516221" name="TextBox 13"/>
          <p:cNvSpPr txBox="1"/>
          <p:nvPr/>
        </p:nvSpPr>
        <p:spPr bwMode="auto">
          <a:xfrm>
            <a:off x="1295399" y="2916936"/>
            <a:ext cx="74747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18–24</a:t>
            </a:r>
            <a:endParaRPr sz="1200" b="1"/>
          </a:p>
        </p:txBody>
      </p:sp>
      <p:sp>
        <p:nvSpPr>
          <p:cNvPr id="1490376139" name="Rectangle 14"/>
          <p:cNvSpPr/>
          <p:nvPr/>
        </p:nvSpPr>
        <p:spPr bwMode="auto">
          <a:xfrm>
            <a:off x="2148840" y="1860678"/>
            <a:ext cx="533400" cy="1019681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9985465" name="TextBox 15"/>
          <p:cNvSpPr txBox="1"/>
          <p:nvPr/>
        </p:nvSpPr>
        <p:spPr bwMode="auto">
          <a:xfrm>
            <a:off x="2148840" y="1659509"/>
            <a:ext cx="5337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24%</a:t>
            </a:r>
            <a:endParaRPr sz="1200"/>
          </a:p>
        </p:txBody>
      </p:sp>
      <p:sp>
        <p:nvSpPr>
          <p:cNvPr id="174109454" name="TextBox 16"/>
          <p:cNvSpPr txBox="1"/>
          <p:nvPr/>
        </p:nvSpPr>
        <p:spPr bwMode="auto">
          <a:xfrm>
            <a:off x="2042159" y="2916936"/>
            <a:ext cx="74747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25–29</a:t>
            </a:r>
            <a:endParaRPr sz="1200" b="1"/>
          </a:p>
        </p:txBody>
      </p:sp>
      <p:sp>
        <p:nvSpPr>
          <p:cNvPr id="1674097036" name="Rectangle 17"/>
          <p:cNvSpPr/>
          <p:nvPr/>
        </p:nvSpPr>
        <p:spPr bwMode="auto">
          <a:xfrm>
            <a:off x="2895600" y="2243059"/>
            <a:ext cx="533400" cy="637300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9722791" name="TextBox 18"/>
          <p:cNvSpPr txBox="1"/>
          <p:nvPr/>
        </p:nvSpPr>
        <p:spPr bwMode="auto">
          <a:xfrm>
            <a:off x="2895599" y="2041890"/>
            <a:ext cx="5337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15%</a:t>
            </a:r>
            <a:endParaRPr sz="1200"/>
          </a:p>
        </p:txBody>
      </p:sp>
      <p:sp>
        <p:nvSpPr>
          <p:cNvPr id="246759213" name="TextBox 19"/>
          <p:cNvSpPr txBox="1"/>
          <p:nvPr/>
        </p:nvSpPr>
        <p:spPr bwMode="auto">
          <a:xfrm>
            <a:off x="2788920" y="2916936"/>
            <a:ext cx="74747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30–34</a:t>
            </a:r>
            <a:endParaRPr sz="1200" b="1"/>
          </a:p>
        </p:txBody>
      </p:sp>
      <p:sp>
        <p:nvSpPr>
          <p:cNvPr id="1072443805" name="Rectangle 20"/>
          <p:cNvSpPr/>
          <p:nvPr/>
        </p:nvSpPr>
        <p:spPr bwMode="auto">
          <a:xfrm>
            <a:off x="3642360" y="2200572"/>
            <a:ext cx="533400" cy="679787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9463142" name="TextBox 21"/>
          <p:cNvSpPr txBox="1"/>
          <p:nvPr/>
        </p:nvSpPr>
        <p:spPr bwMode="auto">
          <a:xfrm>
            <a:off x="3642359" y="1999404"/>
            <a:ext cx="5337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16%</a:t>
            </a:r>
            <a:endParaRPr sz="1200"/>
          </a:p>
        </p:txBody>
      </p:sp>
      <p:sp>
        <p:nvSpPr>
          <p:cNvPr id="1470958179" name="TextBox 22"/>
          <p:cNvSpPr txBox="1"/>
          <p:nvPr/>
        </p:nvSpPr>
        <p:spPr bwMode="auto">
          <a:xfrm>
            <a:off x="3535679" y="2916936"/>
            <a:ext cx="74747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35–44</a:t>
            </a:r>
            <a:endParaRPr sz="1200" b="1"/>
          </a:p>
        </p:txBody>
      </p:sp>
      <p:sp>
        <p:nvSpPr>
          <p:cNvPr id="543504284" name="Rectangle 23"/>
          <p:cNvSpPr/>
          <p:nvPr/>
        </p:nvSpPr>
        <p:spPr bwMode="auto">
          <a:xfrm>
            <a:off x="4389120" y="2540466"/>
            <a:ext cx="533400" cy="339893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6013607" name="TextBox 24"/>
          <p:cNvSpPr txBox="1"/>
          <p:nvPr/>
        </p:nvSpPr>
        <p:spPr bwMode="auto">
          <a:xfrm>
            <a:off x="4389120" y="2339298"/>
            <a:ext cx="5337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8%</a:t>
            </a:r>
            <a:endParaRPr sz="1200"/>
          </a:p>
        </p:txBody>
      </p:sp>
      <p:sp>
        <p:nvSpPr>
          <p:cNvPr id="2068700494" name="TextBox 25"/>
          <p:cNvSpPr txBox="1"/>
          <p:nvPr/>
        </p:nvSpPr>
        <p:spPr bwMode="auto">
          <a:xfrm>
            <a:off x="4282439" y="2916936"/>
            <a:ext cx="74747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45+</a:t>
            </a:r>
            <a:endParaRPr sz="1200" b="1"/>
          </a:p>
        </p:txBody>
      </p:sp>
      <p:sp>
        <p:nvSpPr>
          <p:cNvPr id="368680910" name="TextBox 26"/>
          <p:cNvSpPr txBox="1"/>
          <p:nvPr/>
        </p:nvSpPr>
        <p:spPr bwMode="auto">
          <a:xfrm>
            <a:off x="457200" y="3440667"/>
            <a:ext cx="2287439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007A99"/>
                </a:solidFill>
              </a:rPr>
              <a:t>68% tiene 18–34 años</a:t>
            </a:r>
            <a:endParaRPr sz="1400" b="1"/>
          </a:p>
        </p:txBody>
      </p:sp>
      <p:sp>
        <p:nvSpPr>
          <p:cNvPr id="1995861248" name="Rectangle 27"/>
          <p:cNvSpPr/>
          <p:nvPr/>
        </p:nvSpPr>
        <p:spPr bwMode="auto">
          <a:xfrm>
            <a:off x="5394960" y="1097280"/>
            <a:ext cx="3200400" cy="2286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3153587" name="TextBox 28"/>
          <p:cNvSpPr txBox="1"/>
          <p:nvPr/>
        </p:nvSpPr>
        <p:spPr bwMode="auto">
          <a:xfrm>
            <a:off x="5394960" y="1097280"/>
            <a:ext cx="3200760" cy="33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1A1A3E"/>
                </a:solidFill>
              </a:rPr>
              <a:t>Distribución de Género</a:t>
            </a:r>
            <a:endParaRPr sz="1600"/>
          </a:p>
        </p:txBody>
      </p:sp>
      <p:sp>
        <p:nvSpPr>
          <p:cNvPr id="338913991" name="Rectangle 29"/>
          <p:cNvSpPr/>
          <p:nvPr/>
        </p:nvSpPr>
        <p:spPr bwMode="auto">
          <a:xfrm>
            <a:off x="5767030" y="1389887"/>
            <a:ext cx="2496312" cy="1682496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2887334" name="TextBox 30"/>
          <p:cNvSpPr txBox="1"/>
          <p:nvPr/>
        </p:nvSpPr>
        <p:spPr bwMode="auto">
          <a:xfrm flipH="0" flipV="0">
            <a:off x="6936913" y="1956816"/>
            <a:ext cx="1340893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FFFFFF"/>
                </a:solidFill>
              </a:rPr>
              <a:t>Hombres</a:t>
            </a:r>
            <a:br>
              <a:rPr sz="1800" b="1" i="0">
                <a:solidFill>
                  <a:srgbClr val="FFFFFF"/>
                </a:solidFill>
              </a:rPr>
            </a:br>
            <a:r>
              <a:rPr sz="1800" b="1" i="0">
                <a:solidFill>
                  <a:srgbClr val="FFFFFF"/>
                </a:solidFill>
              </a:rPr>
              <a:t>78%</a:t>
            </a:r>
            <a:endParaRPr/>
          </a:p>
        </p:txBody>
      </p:sp>
      <p:sp>
        <p:nvSpPr>
          <p:cNvPr id="1968588768" name="Rectangle 31"/>
          <p:cNvSpPr/>
          <p:nvPr/>
        </p:nvSpPr>
        <p:spPr bwMode="auto">
          <a:xfrm flipH="0" flipV="0">
            <a:off x="5615987" y="1389888"/>
            <a:ext cx="919090" cy="168249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6326738" name="TextBox 32"/>
          <p:cNvSpPr txBox="1"/>
          <p:nvPr/>
        </p:nvSpPr>
        <p:spPr bwMode="auto">
          <a:xfrm>
            <a:off x="8622792" y="1389888"/>
            <a:ext cx="73152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6A1B9A"/>
                </a:solidFill>
              </a:rPr>
              <a:t>Mujeres</a:t>
            </a:r>
            <a:br>
              <a:rPr sz="1000" b="1" i="0">
                <a:solidFill>
                  <a:srgbClr val="6A1B9A"/>
                </a:solidFill>
              </a:rPr>
            </a:br>
            <a:r>
              <a:rPr sz="1000" b="1" i="0">
                <a:solidFill>
                  <a:srgbClr val="6A1B9A"/>
                </a:solidFill>
              </a:rPr>
              <a:t>22%</a:t>
            </a:r>
            <a:endParaRPr/>
          </a:p>
        </p:txBody>
      </p:sp>
      <p:sp>
        <p:nvSpPr>
          <p:cNvPr id="1190340687" name="TextBox 33"/>
          <p:cNvSpPr txBox="1"/>
          <p:nvPr/>
        </p:nvSpPr>
        <p:spPr bwMode="auto">
          <a:xfrm>
            <a:off x="5394960" y="3154680"/>
            <a:ext cx="320112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1">
                <a:solidFill>
                  <a:srgbClr val="2E7D32"/>
                </a:solidFill>
              </a:rPr>
              <a:t>+34% más mujeres ingresando 2022→2025</a:t>
            </a:r>
            <a:endParaRPr sz="1200" b="1"/>
          </a:p>
        </p:txBody>
      </p:sp>
      <p:sp>
        <p:nvSpPr>
          <p:cNvPr id="332572377" name="Rectangle 34"/>
          <p:cNvSpPr/>
          <p:nvPr/>
        </p:nvSpPr>
        <p:spPr bwMode="auto">
          <a:xfrm>
            <a:off x="8686800" y="1097280"/>
            <a:ext cx="3319272" cy="2651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3773351" name="TextBox 35"/>
          <p:cNvSpPr txBox="1"/>
          <p:nvPr/>
        </p:nvSpPr>
        <p:spPr bwMode="auto">
          <a:xfrm>
            <a:off x="8686800" y="1097280"/>
            <a:ext cx="3319632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1A1A3E"/>
                </a:solidFill>
              </a:rPr>
              <a:t>¿Por Qué Quieren Aprender?</a:t>
            </a:r>
            <a:endParaRPr sz="1400"/>
          </a:p>
        </p:txBody>
      </p:sp>
      <p:sp>
        <p:nvSpPr>
          <p:cNvPr id="1497349752" name="Rectangle 36"/>
          <p:cNvSpPr/>
          <p:nvPr/>
        </p:nvSpPr>
        <p:spPr bwMode="auto">
          <a:xfrm>
            <a:off x="10287000" y="1483360"/>
            <a:ext cx="1418094" cy="227584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108102" name="TextBox 37"/>
          <p:cNvSpPr txBox="1"/>
          <p:nvPr/>
        </p:nvSpPr>
        <p:spPr bwMode="auto">
          <a:xfrm>
            <a:off x="11775096" y="1483359"/>
            <a:ext cx="59472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1A1A3E"/>
                </a:solidFill>
              </a:rPr>
              <a:t>71%</a:t>
            </a:r>
            <a:endParaRPr sz="1100"/>
          </a:p>
        </p:txBody>
      </p:sp>
      <p:sp>
        <p:nvSpPr>
          <p:cNvPr id="786674215" name="TextBox 38"/>
          <p:cNvSpPr txBox="1"/>
          <p:nvPr/>
        </p:nvSpPr>
        <p:spPr bwMode="auto">
          <a:xfrm flipH="0" flipV="0">
            <a:off x="8622791" y="1483359"/>
            <a:ext cx="1640376" cy="3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000" b="1" i="0">
                <a:solidFill>
                  <a:srgbClr val="555566"/>
                </a:solidFill>
              </a:rPr>
              <a:t>Crear música para redes sociales</a:t>
            </a:r>
            <a:endParaRPr sz="1000" b="1"/>
          </a:p>
        </p:txBody>
      </p:sp>
      <p:sp>
        <p:nvSpPr>
          <p:cNvPr id="1624728533" name="Rectangle 39"/>
          <p:cNvSpPr/>
          <p:nvPr/>
        </p:nvSpPr>
        <p:spPr bwMode="auto">
          <a:xfrm>
            <a:off x="10287000" y="1824735"/>
            <a:ext cx="1158443" cy="227584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2576845" name="TextBox 40"/>
          <p:cNvSpPr txBox="1"/>
          <p:nvPr/>
        </p:nvSpPr>
        <p:spPr bwMode="auto">
          <a:xfrm>
            <a:off x="11515445" y="1824735"/>
            <a:ext cx="59472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1A1A3E"/>
                </a:solidFill>
              </a:rPr>
              <a:t>58%</a:t>
            </a:r>
            <a:endParaRPr sz="1100"/>
          </a:p>
        </p:txBody>
      </p:sp>
      <p:sp>
        <p:nvSpPr>
          <p:cNvPr id="1688231666" name="TextBox 41"/>
          <p:cNvSpPr txBox="1"/>
          <p:nvPr/>
        </p:nvSpPr>
        <p:spPr bwMode="auto">
          <a:xfrm flipH="0" flipV="0">
            <a:off x="8622791" y="1824735"/>
            <a:ext cx="1640376" cy="3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000" b="1" i="0">
                <a:solidFill>
                  <a:srgbClr val="555566"/>
                </a:solidFill>
              </a:rPr>
              <a:t>Presentaciones en vivo / DJ sets</a:t>
            </a:r>
            <a:endParaRPr sz="1000" b="1"/>
          </a:p>
        </p:txBody>
      </p:sp>
      <p:sp>
        <p:nvSpPr>
          <p:cNvPr id="265245776" name="Rectangle 42"/>
          <p:cNvSpPr/>
          <p:nvPr/>
        </p:nvSpPr>
        <p:spPr bwMode="auto">
          <a:xfrm>
            <a:off x="10287000" y="2166112"/>
            <a:ext cx="1078551" cy="227584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0489295" name="TextBox 43"/>
          <p:cNvSpPr txBox="1"/>
          <p:nvPr/>
        </p:nvSpPr>
        <p:spPr bwMode="auto">
          <a:xfrm>
            <a:off x="11435553" y="2166111"/>
            <a:ext cx="59472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1A1A3E"/>
                </a:solidFill>
              </a:rPr>
              <a:t>54%</a:t>
            </a:r>
            <a:endParaRPr sz="1100"/>
          </a:p>
        </p:txBody>
      </p:sp>
      <p:sp>
        <p:nvSpPr>
          <p:cNvPr id="87556840" name="TextBox 44"/>
          <p:cNvSpPr txBox="1"/>
          <p:nvPr/>
        </p:nvSpPr>
        <p:spPr bwMode="auto">
          <a:xfrm flipH="0" flipV="0">
            <a:off x="8622791" y="2166111"/>
            <a:ext cx="1640376" cy="244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000" b="1" i="0">
                <a:solidFill>
                  <a:srgbClr val="555566"/>
                </a:solidFill>
              </a:rPr>
              <a:t>Producción profesional</a:t>
            </a:r>
            <a:endParaRPr sz="1000" b="1"/>
          </a:p>
        </p:txBody>
      </p:sp>
      <p:sp>
        <p:nvSpPr>
          <p:cNvPr id="217709240" name="Rectangle 45"/>
          <p:cNvSpPr/>
          <p:nvPr/>
        </p:nvSpPr>
        <p:spPr bwMode="auto">
          <a:xfrm>
            <a:off x="10287000" y="2507488"/>
            <a:ext cx="938738" cy="227584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9619632" name="TextBox 46"/>
          <p:cNvSpPr txBox="1"/>
          <p:nvPr/>
        </p:nvSpPr>
        <p:spPr bwMode="auto">
          <a:xfrm>
            <a:off x="11295740" y="2507487"/>
            <a:ext cx="59472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1A1A3E"/>
                </a:solidFill>
              </a:rPr>
              <a:t>47%</a:t>
            </a:r>
            <a:endParaRPr sz="1100"/>
          </a:p>
        </p:txBody>
      </p:sp>
      <p:sp>
        <p:nvSpPr>
          <p:cNvPr id="1463078248" name="TextBox 47"/>
          <p:cNvSpPr txBox="1"/>
          <p:nvPr/>
        </p:nvSpPr>
        <p:spPr bwMode="auto">
          <a:xfrm flipH="0" flipV="0">
            <a:off x="8622791" y="2507487"/>
            <a:ext cx="1640376" cy="3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000" b="1" i="0">
                <a:solidFill>
                  <a:srgbClr val="555566"/>
                </a:solidFill>
              </a:rPr>
              <a:t>Hobby / exploración creativa</a:t>
            </a:r>
            <a:endParaRPr sz="1000" b="1"/>
          </a:p>
        </p:txBody>
      </p:sp>
      <p:sp>
        <p:nvSpPr>
          <p:cNvPr id="1244096720" name="Rectangle 48"/>
          <p:cNvSpPr/>
          <p:nvPr/>
        </p:nvSpPr>
        <p:spPr bwMode="auto">
          <a:xfrm>
            <a:off x="10287000" y="2848864"/>
            <a:ext cx="838873" cy="227584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1570866" name="TextBox 49"/>
          <p:cNvSpPr txBox="1"/>
          <p:nvPr/>
        </p:nvSpPr>
        <p:spPr bwMode="auto">
          <a:xfrm>
            <a:off x="11195875" y="2848863"/>
            <a:ext cx="59472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1A1A3E"/>
                </a:solidFill>
              </a:rPr>
              <a:t>42%</a:t>
            </a:r>
            <a:endParaRPr sz="1100"/>
          </a:p>
        </p:txBody>
      </p:sp>
      <p:sp>
        <p:nvSpPr>
          <p:cNvPr id="866622167" name="TextBox 50"/>
          <p:cNvSpPr txBox="1"/>
          <p:nvPr/>
        </p:nvSpPr>
        <p:spPr bwMode="auto">
          <a:xfrm flipH="0" flipV="0">
            <a:off x="8622791" y="2848863"/>
            <a:ext cx="1640376" cy="244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000" b="1" i="0">
                <a:solidFill>
                  <a:srgbClr val="555566"/>
                </a:solidFill>
              </a:rPr>
              <a:t>Emprender como creador</a:t>
            </a:r>
            <a:endParaRPr sz="1000" b="1"/>
          </a:p>
        </p:txBody>
      </p:sp>
      <p:sp>
        <p:nvSpPr>
          <p:cNvPr id="1825006648" name="Rectangle 51"/>
          <p:cNvSpPr/>
          <p:nvPr/>
        </p:nvSpPr>
        <p:spPr bwMode="auto">
          <a:xfrm>
            <a:off x="10287000" y="3190240"/>
            <a:ext cx="619168" cy="227584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1106388" name="TextBox 52"/>
          <p:cNvSpPr txBox="1"/>
          <p:nvPr/>
        </p:nvSpPr>
        <p:spPr bwMode="auto">
          <a:xfrm>
            <a:off x="10976170" y="3190239"/>
            <a:ext cx="59472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1A1A3E"/>
                </a:solidFill>
              </a:rPr>
              <a:t>31%</a:t>
            </a:r>
            <a:endParaRPr sz="1100"/>
          </a:p>
        </p:txBody>
      </p:sp>
      <p:sp>
        <p:nvSpPr>
          <p:cNvPr id="158210440" name="TextBox 53"/>
          <p:cNvSpPr txBox="1"/>
          <p:nvPr/>
        </p:nvSpPr>
        <p:spPr bwMode="auto">
          <a:xfrm flipH="0" flipV="0">
            <a:off x="8622791" y="3190239"/>
            <a:ext cx="1640376" cy="3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000" b="1" i="0">
                <a:solidFill>
                  <a:srgbClr val="555566"/>
                </a:solidFill>
              </a:rPr>
              <a:t>Educación formal alternativa</a:t>
            </a:r>
            <a:endParaRPr sz="1000" b="1"/>
          </a:p>
        </p:txBody>
      </p:sp>
      <p:graphicFrame>
        <p:nvGraphicFramePr>
          <p:cNvPr id="967075441" name="Table 54"/>
          <p:cNvGraphicFramePr>
            <a:graphicFrameLocks xmlns:a="http://schemas.openxmlformats.org/drawingml/2006/main" noGrp="1"/>
          </p:cNvGraphicFramePr>
          <p:nvPr/>
        </p:nvGraphicFramePr>
        <p:xfrm rot="0">
          <a:off x="274320" y="3749039"/>
          <a:ext cx="11640312" cy="233172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910078"/>
                <a:gridCol w="2910078"/>
                <a:gridCol w="2910078"/>
                <a:gridCol w="2910078"/>
              </a:tblGrid>
              <a:tr h="33310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Barrera</a:t>
                      </a:r>
                      <a:endParaRPr sz="1400" b="1"/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% abandona</a:t>
                      </a:r>
                      <a:endParaRPr sz="1400" b="1"/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Severidad</a:t>
                      </a:r>
                      <a:endParaRPr sz="1400" b="1"/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Solución GZBR</a:t>
                      </a:r>
                      <a:endParaRPr sz="1400" b="1"/>
                    </a:p>
                  </a:txBody>
                  <a:tcPr>
                    <a:solidFill>
                      <a:srgbClr val="C62828"/>
                    </a:solidFill>
                  </a:tcPr>
                </a:tc>
              </a:tr>
              <a:tr h="33310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Falta de comunidad activa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68%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Alta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Skool 24/7 + JackTrip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3310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Currículo demasiado técnico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54%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Media-Alta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BandLoop™ progresivo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33310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Sin retroalimentación en tiempo real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47%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Media-Alta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JackTrip &lt; 25ms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3310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Sin referentes latinos visibles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39%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 Media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ICA: Laura Katic / Caperooza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33310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Costo del hardware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31%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 Media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Currículum Tier 0–3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3310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Todo en inglés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28%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 Media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Plataforma 100% ES/EN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187388388" name="Rectangle 55"/>
          <p:cNvSpPr/>
          <p:nvPr/>
        </p:nvSpPr>
        <p:spPr bwMode="auto">
          <a:xfrm>
            <a:off x="274320" y="6153912"/>
            <a:ext cx="11640312" cy="457200"/>
          </a:xfrm>
          <a:prstGeom prst="rect">
            <a:avLst/>
          </a:prstGeom>
          <a:solidFill>
            <a:srgbClr val="EAF0F8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147583" name="TextBox 56"/>
          <p:cNvSpPr txBox="1"/>
          <p:nvPr/>
        </p:nvSpPr>
        <p:spPr bwMode="auto">
          <a:xfrm>
            <a:off x="384048" y="6245352"/>
            <a:ext cx="11421215" cy="33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1" i="0">
                <a:solidFill>
                  <a:srgbClr val="2E7D32"/>
                </a:solidFill>
              </a:rPr>
              <a:t>OPORTUNIDAD: GZBR resuelve las 6 barreras principales con tecnología y comunidad ya existente.</a:t>
            </a:r>
            <a:endParaRPr sz="1600"/>
          </a:p>
        </p:txBody>
      </p:sp>
      <p:sp>
        <p:nvSpPr>
          <p:cNvPr id="1246127105" name="Rectangle 57"/>
          <p:cNvSpPr/>
          <p:nvPr/>
        </p:nvSpPr>
        <p:spPr bwMode="auto">
          <a:xfrm>
            <a:off x="0" y="6565392"/>
            <a:ext cx="12188952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8830292" name="TextBox 58"/>
          <p:cNvSpPr txBox="1"/>
          <p:nvPr/>
        </p:nvSpPr>
        <p:spPr bwMode="auto"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700" b="0" i="0">
                <a:solidFill>
                  <a:srgbClr val="555566"/>
                </a:solidFill>
              </a:rPr>
              <a:t>GZBR GuitarZero to BandRock — Módulo 10: Electrónica Global — V8.3 — Mar 2026 — Uso interno ICA. No distribuir sin autorización.</a:t>
            </a:r>
            <a:endParaRPr/>
          </a:p>
        </p:txBody>
      </p:sp>
      <p:sp>
        <p:nvSpPr>
          <p:cNvPr id="134945430" name="TextBox 30"/>
          <p:cNvSpPr txBox="1"/>
          <p:nvPr/>
        </p:nvSpPr>
        <p:spPr bwMode="auto">
          <a:xfrm flipH="0" flipV="0">
            <a:off x="5392745" y="1921144"/>
            <a:ext cx="1347732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FFFFFF"/>
                </a:solidFill>
              </a:rPr>
              <a:t>Mujeres</a:t>
            </a:r>
            <a:br>
              <a:rPr sz="1800" b="1" i="0">
                <a:solidFill>
                  <a:srgbClr val="FFFFFF"/>
                </a:solidFill>
              </a:rPr>
            </a:br>
            <a:r>
              <a:rPr sz="1800" b="1" i="0">
                <a:solidFill>
                  <a:srgbClr val="FFFFFF"/>
                </a:solidFill>
              </a:rPr>
              <a:t>22%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800899" name="Rectangle 1"/>
          <p:cNvSpPr/>
          <p:nvPr/>
        </p:nvSpPr>
        <p:spPr bwMode="auto">
          <a:xfrm>
            <a:off x="0" y="0"/>
            <a:ext cx="12188952" cy="5943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8558822" name="TextBox 2"/>
          <p:cNvSpPr txBox="1"/>
          <p:nvPr/>
        </p:nvSpPr>
        <p:spPr bwMode="auto">
          <a:xfrm>
            <a:off x="182880" y="0"/>
            <a:ext cx="11823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FFFFFF"/>
                </a:solidFill>
              </a:rPr>
              <a:t>GZBR GuitarZero to BandRock — Módulo 10 — Electrónica Global</a:t>
            </a:r>
            <a:endParaRPr/>
          </a:p>
        </p:txBody>
      </p:sp>
      <p:sp>
        <p:nvSpPr>
          <p:cNvPr id="2104277561" name="TextBox 3"/>
          <p:cNvSpPr txBox="1"/>
          <p:nvPr/>
        </p:nvSpPr>
        <p:spPr bwMode="auto">
          <a:xfrm>
            <a:off x="182880" y="329184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AACCEE"/>
                </a:solidFill>
              </a:rPr>
              <a:t>Reporte de Mercado · V8.3 · Mar 2026</a:t>
            </a:r>
            <a:endParaRPr/>
          </a:p>
        </p:txBody>
      </p:sp>
      <p:sp>
        <p:nvSpPr>
          <p:cNvPr id="1997674525" name="Rectangle 4"/>
          <p:cNvSpPr/>
          <p:nvPr/>
        </p:nvSpPr>
        <p:spPr bwMode="auto">
          <a:xfrm>
            <a:off x="0" y="658368"/>
            <a:ext cx="12188952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8838105" name="TextBox 5"/>
          <p:cNvSpPr txBox="1"/>
          <p:nvPr/>
        </p:nvSpPr>
        <p:spPr bwMode="auto">
          <a:xfrm>
            <a:off x="182880" y="658368"/>
            <a:ext cx="11823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1" i="0">
                <a:solidFill>
                  <a:srgbClr val="FFFFFF"/>
                </a:solidFill>
              </a:rPr>
              <a:t>SECCIÓN 3 — Geografía: Países con Más Creadores de Electrónica</a:t>
            </a:r>
            <a:endParaRPr/>
          </a:p>
        </p:txBody>
      </p:sp>
      <p:sp>
        <p:nvSpPr>
          <p:cNvPr id="1974299603" name="Rectangle 6"/>
          <p:cNvSpPr/>
          <p:nvPr/>
        </p:nvSpPr>
        <p:spPr bwMode="auto">
          <a:xfrm>
            <a:off x="274320" y="1097280"/>
            <a:ext cx="7772400" cy="25603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4094052" name="TextBox 7"/>
          <p:cNvSpPr txBox="1"/>
          <p:nvPr/>
        </p:nvSpPr>
        <p:spPr bwMode="auto">
          <a:xfrm>
            <a:off x="274320" y="1097280"/>
            <a:ext cx="7772760" cy="33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1A1A3E"/>
                </a:solidFill>
              </a:rPr>
              <a:t>Creadores de Contenido Electrónica (Miles) · Top 10 Global 2025</a:t>
            </a:r>
            <a:endParaRPr sz="1600"/>
          </a:p>
        </p:txBody>
      </p:sp>
      <p:sp>
        <p:nvSpPr>
          <p:cNvPr id="2112508675" name="Rectangle 8"/>
          <p:cNvSpPr/>
          <p:nvPr/>
        </p:nvSpPr>
        <p:spPr bwMode="auto">
          <a:xfrm>
            <a:off x="651836" y="1690090"/>
            <a:ext cx="515982" cy="1464589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0936640" name="TextBox 9"/>
          <p:cNvSpPr txBox="1"/>
          <p:nvPr/>
        </p:nvSpPr>
        <p:spPr bwMode="auto">
          <a:xfrm flipH="0" flipV="0">
            <a:off x="577421" y="1414507"/>
            <a:ext cx="6202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1,250K</a:t>
            </a:r>
            <a:endParaRPr sz="1200" b="1"/>
          </a:p>
        </p:txBody>
      </p:sp>
      <p:sp>
        <p:nvSpPr>
          <p:cNvPr id="1367929123" name="TextBox 10"/>
          <p:cNvSpPr txBox="1"/>
          <p:nvPr/>
        </p:nvSpPr>
        <p:spPr bwMode="auto">
          <a:xfrm>
            <a:off x="548640" y="3191256"/>
            <a:ext cx="723456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EUA</a:t>
            </a:r>
            <a:endParaRPr sz="1100" b="1"/>
          </a:p>
        </p:txBody>
      </p:sp>
      <p:sp>
        <p:nvSpPr>
          <p:cNvPr id="1213265038" name="Rectangle 11"/>
          <p:cNvSpPr/>
          <p:nvPr/>
        </p:nvSpPr>
        <p:spPr bwMode="auto">
          <a:xfrm>
            <a:off x="1374212" y="2111892"/>
            <a:ext cx="515982" cy="1042787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6479339" name="TextBox 12"/>
          <p:cNvSpPr txBox="1"/>
          <p:nvPr/>
        </p:nvSpPr>
        <p:spPr bwMode="auto">
          <a:xfrm flipH="0" flipV="0">
            <a:off x="1299797" y="1836309"/>
            <a:ext cx="6202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890K</a:t>
            </a:r>
            <a:endParaRPr sz="1200" b="1"/>
          </a:p>
        </p:txBody>
      </p:sp>
      <p:sp>
        <p:nvSpPr>
          <p:cNvPr id="2103559677" name="TextBox 13"/>
          <p:cNvSpPr txBox="1"/>
          <p:nvPr/>
        </p:nvSpPr>
        <p:spPr bwMode="auto">
          <a:xfrm>
            <a:off x="1271015" y="3191256"/>
            <a:ext cx="723456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UK</a:t>
            </a:r>
            <a:endParaRPr sz="1100" b="1"/>
          </a:p>
        </p:txBody>
      </p:sp>
      <p:sp>
        <p:nvSpPr>
          <p:cNvPr id="279736765" name="Rectangle 14"/>
          <p:cNvSpPr/>
          <p:nvPr/>
        </p:nvSpPr>
        <p:spPr bwMode="auto">
          <a:xfrm>
            <a:off x="2096588" y="2240775"/>
            <a:ext cx="515982" cy="913904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755209" name="TextBox 15"/>
          <p:cNvSpPr txBox="1"/>
          <p:nvPr/>
        </p:nvSpPr>
        <p:spPr bwMode="auto">
          <a:xfrm flipH="0" flipV="0">
            <a:off x="2022173" y="1965192"/>
            <a:ext cx="6202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780K</a:t>
            </a:r>
            <a:endParaRPr sz="1200" b="1"/>
          </a:p>
        </p:txBody>
      </p:sp>
      <p:sp>
        <p:nvSpPr>
          <p:cNvPr id="1364382023" name="TextBox 16"/>
          <p:cNvSpPr txBox="1"/>
          <p:nvPr/>
        </p:nvSpPr>
        <p:spPr bwMode="auto">
          <a:xfrm flipH="0" flipV="0">
            <a:off x="1891273" y="3191255"/>
            <a:ext cx="826293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Alemania</a:t>
            </a:r>
            <a:endParaRPr sz="1100" b="1"/>
          </a:p>
        </p:txBody>
      </p:sp>
      <p:sp>
        <p:nvSpPr>
          <p:cNvPr id="2143250583" name="Rectangle 17"/>
          <p:cNvSpPr/>
          <p:nvPr/>
        </p:nvSpPr>
        <p:spPr bwMode="auto">
          <a:xfrm>
            <a:off x="2818964" y="2428243"/>
            <a:ext cx="515982" cy="726436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4619081" name="TextBox 18"/>
          <p:cNvSpPr txBox="1"/>
          <p:nvPr/>
        </p:nvSpPr>
        <p:spPr bwMode="auto">
          <a:xfrm flipH="0" flipV="0">
            <a:off x="2744549" y="2152660"/>
            <a:ext cx="6202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620K</a:t>
            </a:r>
            <a:endParaRPr sz="1200" b="1"/>
          </a:p>
        </p:txBody>
      </p:sp>
      <p:sp>
        <p:nvSpPr>
          <p:cNvPr id="649443614" name="TextBox 19"/>
          <p:cNvSpPr txBox="1"/>
          <p:nvPr/>
        </p:nvSpPr>
        <p:spPr bwMode="auto">
          <a:xfrm>
            <a:off x="2715768" y="3191256"/>
            <a:ext cx="723456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Brasil</a:t>
            </a:r>
            <a:endParaRPr sz="1100" b="1"/>
          </a:p>
        </p:txBody>
      </p:sp>
      <p:sp>
        <p:nvSpPr>
          <p:cNvPr id="1760905455" name="Rectangle 20"/>
          <p:cNvSpPr/>
          <p:nvPr/>
        </p:nvSpPr>
        <p:spPr bwMode="auto">
          <a:xfrm>
            <a:off x="3541340" y="2521977"/>
            <a:ext cx="515982" cy="632702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2643489" name="TextBox 21"/>
          <p:cNvSpPr txBox="1"/>
          <p:nvPr/>
        </p:nvSpPr>
        <p:spPr bwMode="auto">
          <a:xfrm flipH="0" flipV="0">
            <a:off x="3466925" y="2246394"/>
            <a:ext cx="6202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540K</a:t>
            </a:r>
            <a:endParaRPr sz="1200" b="1"/>
          </a:p>
        </p:txBody>
      </p:sp>
      <p:sp>
        <p:nvSpPr>
          <p:cNvPr id="1575662461" name="TextBox 22"/>
          <p:cNvSpPr txBox="1"/>
          <p:nvPr/>
        </p:nvSpPr>
        <p:spPr bwMode="auto">
          <a:xfrm>
            <a:off x="3438144" y="3191256"/>
            <a:ext cx="723456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Francia</a:t>
            </a:r>
            <a:endParaRPr sz="1100" b="1"/>
          </a:p>
        </p:txBody>
      </p:sp>
      <p:sp>
        <p:nvSpPr>
          <p:cNvPr id="1953586107" name="Rectangle 23"/>
          <p:cNvSpPr/>
          <p:nvPr/>
        </p:nvSpPr>
        <p:spPr bwMode="auto">
          <a:xfrm>
            <a:off x="4263716" y="2592277"/>
            <a:ext cx="515982" cy="562402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5397248" name="TextBox 24"/>
          <p:cNvSpPr txBox="1"/>
          <p:nvPr/>
        </p:nvSpPr>
        <p:spPr bwMode="auto">
          <a:xfrm flipH="0" flipV="0">
            <a:off x="4189301" y="2316694"/>
            <a:ext cx="6202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480K</a:t>
            </a:r>
            <a:endParaRPr sz="1200" b="1"/>
          </a:p>
        </p:txBody>
      </p:sp>
      <p:sp>
        <p:nvSpPr>
          <p:cNvPr id="823339538" name="TextBox 25"/>
          <p:cNvSpPr txBox="1"/>
          <p:nvPr/>
        </p:nvSpPr>
        <p:spPr bwMode="auto">
          <a:xfrm>
            <a:off x="4160519" y="3191256"/>
            <a:ext cx="723456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México</a:t>
            </a:r>
            <a:endParaRPr sz="1100" b="1"/>
          </a:p>
        </p:txBody>
      </p:sp>
      <p:sp>
        <p:nvSpPr>
          <p:cNvPr id="1249168679" name="Rectangle 26"/>
          <p:cNvSpPr/>
          <p:nvPr/>
        </p:nvSpPr>
        <p:spPr bwMode="auto">
          <a:xfrm>
            <a:off x="4986092" y="2662577"/>
            <a:ext cx="515982" cy="492102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9500404" name="TextBox 27"/>
          <p:cNvSpPr txBox="1"/>
          <p:nvPr/>
        </p:nvSpPr>
        <p:spPr bwMode="auto">
          <a:xfrm flipH="0" flipV="0">
            <a:off x="4911677" y="2386994"/>
            <a:ext cx="6202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420K</a:t>
            </a:r>
            <a:endParaRPr sz="1200" b="1"/>
          </a:p>
        </p:txBody>
      </p:sp>
      <p:sp>
        <p:nvSpPr>
          <p:cNvPr id="928907367" name="TextBox 28"/>
          <p:cNvSpPr txBox="1"/>
          <p:nvPr/>
        </p:nvSpPr>
        <p:spPr bwMode="auto">
          <a:xfrm>
            <a:off x="4882896" y="3191256"/>
            <a:ext cx="723456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P.Bajos</a:t>
            </a:r>
            <a:endParaRPr sz="1100" b="1"/>
          </a:p>
        </p:txBody>
      </p:sp>
      <p:sp>
        <p:nvSpPr>
          <p:cNvPr id="1297435008" name="Rectangle 29"/>
          <p:cNvSpPr/>
          <p:nvPr/>
        </p:nvSpPr>
        <p:spPr bwMode="auto">
          <a:xfrm>
            <a:off x="5708468" y="2791461"/>
            <a:ext cx="515982" cy="363218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4525974" name="TextBox 30"/>
          <p:cNvSpPr txBox="1"/>
          <p:nvPr/>
        </p:nvSpPr>
        <p:spPr bwMode="auto">
          <a:xfrm flipH="0" flipV="0">
            <a:off x="5634053" y="2515878"/>
            <a:ext cx="6202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310K</a:t>
            </a:r>
            <a:endParaRPr sz="1200" b="1"/>
          </a:p>
        </p:txBody>
      </p:sp>
      <p:sp>
        <p:nvSpPr>
          <p:cNvPr id="1432610960" name="TextBox 31"/>
          <p:cNvSpPr txBox="1"/>
          <p:nvPr/>
        </p:nvSpPr>
        <p:spPr bwMode="auto">
          <a:xfrm flipH="0" flipV="0">
            <a:off x="5503153" y="3191255"/>
            <a:ext cx="826293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Colombia</a:t>
            </a:r>
            <a:endParaRPr sz="1100" b="1"/>
          </a:p>
        </p:txBody>
      </p:sp>
      <p:sp>
        <p:nvSpPr>
          <p:cNvPr id="449861486" name="Rectangle 32"/>
          <p:cNvSpPr/>
          <p:nvPr/>
        </p:nvSpPr>
        <p:spPr bwMode="auto">
          <a:xfrm>
            <a:off x="6430844" y="2814895"/>
            <a:ext cx="515982" cy="339784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3145813" name="TextBox 33"/>
          <p:cNvSpPr txBox="1"/>
          <p:nvPr/>
        </p:nvSpPr>
        <p:spPr bwMode="auto">
          <a:xfrm flipH="0" flipV="0">
            <a:off x="6356429" y="2539312"/>
            <a:ext cx="6202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290K</a:t>
            </a:r>
            <a:endParaRPr sz="1200" b="1"/>
          </a:p>
        </p:txBody>
      </p:sp>
      <p:sp>
        <p:nvSpPr>
          <p:cNvPr id="2097041472" name="TextBox 34"/>
          <p:cNvSpPr txBox="1"/>
          <p:nvPr/>
        </p:nvSpPr>
        <p:spPr bwMode="auto">
          <a:xfrm flipH="0" flipV="0">
            <a:off x="6225529" y="3191255"/>
            <a:ext cx="826293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Argentina</a:t>
            </a:r>
            <a:endParaRPr sz="1100" b="1"/>
          </a:p>
        </p:txBody>
      </p:sp>
      <p:sp>
        <p:nvSpPr>
          <p:cNvPr id="790788072" name="Rectangle 35"/>
          <p:cNvSpPr/>
          <p:nvPr/>
        </p:nvSpPr>
        <p:spPr bwMode="auto">
          <a:xfrm>
            <a:off x="7153220" y="2838328"/>
            <a:ext cx="515982" cy="316351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8863600" name="TextBox 36"/>
          <p:cNvSpPr txBox="1"/>
          <p:nvPr/>
        </p:nvSpPr>
        <p:spPr bwMode="auto">
          <a:xfrm flipH="0" flipV="0">
            <a:off x="7078805" y="2562745"/>
            <a:ext cx="6202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270K</a:t>
            </a:r>
            <a:endParaRPr sz="1200" b="1"/>
          </a:p>
        </p:txBody>
      </p:sp>
      <p:sp>
        <p:nvSpPr>
          <p:cNvPr id="1715134405" name="TextBox 37"/>
          <p:cNvSpPr txBox="1"/>
          <p:nvPr/>
        </p:nvSpPr>
        <p:spPr bwMode="auto">
          <a:xfrm>
            <a:off x="7050024" y="3191256"/>
            <a:ext cx="723456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Japón</a:t>
            </a:r>
            <a:endParaRPr sz="1100" b="1"/>
          </a:p>
        </p:txBody>
      </p:sp>
      <p:sp>
        <p:nvSpPr>
          <p:cNvPr id="1243933283" name="TextBox 38"/>
          <p:cNvSpPr txBox="1"/>
          <p:nvPr/>
        </p:nvSpPr>
        <p:spPr bwMode="auto">
          <a:xfrm>
            <a:off x="274320" y="3401568"/>
            <a:ext cx="7774559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555566"/>
                </a:solidFill>
              </a:rPr>
              <a:t>LATAM = 4 de los top 10 mundiales (Brasil, México, Colombia, Argentina)</a:t>
            </a:r>
            <a:endParaRPr sz="1400" b="1"/>
          </a:p>
        </p:txBody>
      </p:sp>
      <p:sp>
        <p:nvSpPr>
          <p:cNvPr id="1697941720" name="Rectangle 39"/>
          <p:cNvSpPr/>
          <p:nvPr/>
        </p:nvSpPr>
        <p:spPr bwMode="auto">
          <a:xfrm>
            <a:off x="8229600" y="1097280"/>
            <a:ext cx="3776472" cy="25603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8046704" name="TextBox 40"/>
          <p:cNvSpPr txBox="1"/>
          <p:nvPr/>
        </p:nvSpPr>
        <p:spPr bwMode="auto">
          <a:xfrm>
            <a:off x="8229600" y="1097280"/>
            <a:ext cx="3776832" cy="33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1A1A3E"/>
                </a:solidFill>
              </a:rPr>
              <a:t>Crecimiento YoY Creadores LATAM 2025</a:t>
            </a:r>
            <a:endParaRPr sz="1600"/>
          </a:p>
        </p:txBody>
      </p:sp>
      <p:sp>
        <p:nvSpPr>
          <p:cNvPr id="104891671" name="Rectangle 41"/>
          <p:cNvSpPr/>
          <p:nvPr/>
        </p:nvSpPr>
        <p:spPr bwMode="auto">
          <a:xfrm>
            <a:off x="8580773" y="1690090"/>
            <a:ext cx="384265" cy="1464589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0436475" name="TextBox 42"/>
          <p:cNvSpPr txBox="1"/>
          <p:nvPr/>
        </p:nvSpPr>
        <p:spPr bwMode="auto">
          <a:xfrm flipH="0" flipV="0">
            <a:off x="8506358" y="1414507"/>
            <a:ext cx="53535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+31%</a:t>
            </a:r>
            <a:endParaRPr sz="1200"/>
          </a:p>
        </p:txBody>
      </p:sp>
      <p:sp>
        <p:nvSpPr>
          <p:cNvPr id="434162353" name="TextBox 43"/>
          <p:cNvSpPr txBox="1"/>
          <p:nvPr/>
        </p:nvSpPr>
        <p:spPr bwMode="auto">
          <a:xfrm flipH="0" flipV="0">
            <a:off x="8378427" y="3154678"/>
            <a:ext cx="814811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Colombia</a:t>
            </a:r>
            <a:endParaRPr sz="1100" b="1"/>
          </a:p>
        </p:txBody>
      </p:sp>
      <p:sp>
        <p:nvSpPr>
          <p:cNvPr id="360483927" name="Rectangle 44"/>
          <p:cNvSpPr/>
          <p:nvPr/>
        </p:nvSpPr>
        <p:spPr bwMode="auto">
          <a:xfrm>
            <a:off x="9118745" y="1831824"/>
            <a:ext cx="384265" cy="1322855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9323995" name="TextBox 45"/>
          <p:cNvSpPr txBox="1"/>
          <p:nvPr/>
        </p:nvSpPr>
        <p:spPr bwMode="auto">
          <a:xfrm flipH="0" flipV="0">
            <a:off x="9044330" y="1556241"/>
            <a:ext cx="53535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+28%</a:t>
            </a:r>
            <a:endParaRPr sz="1200"/>
          </a:p>
        </p:txBody>
      </p:sp>
      <p:sp>
        <p:nvSpPr>
          <p:cNvPr id="527989123" name="TextBox 46"/>
          <p:cNvSpPr txBox="1"/>
          <p:nvPr/>
        </p:nvSpPr>
        <p:spPr bwMode="auto">
          <a:xfrm flipH="0" flipV="0">
            <a:off x="8916400" y="3169036"/>
            <a:ext cx="814811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Brasil</a:t>
            </a:r>
            <a:endParaRPr sz="1100" b="1"/>
          </a:p>
        </p:txBody>
      </p:sp>
      <p:sp>
        <p:nvSpPr>
          <p:cNvPr id="1853227546" name="Rectangle 47"/>
          <p:cNvSpPr/>
          <p:nvPr/>
        </p:nvSpPr>
        <p:spPr bwMode="auto">
          <a:xfrm>
            <a:off x="9656717" y="2020804"/>
            <a:ext cx="384265" cy="1133875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4178072" name="TextBox 48"/>
          <p:cNvSpPr txBox="1"/>
          <p:nvPr/>
        </p:nvSpPr>
        <p:spPr bwMode="auto">
          <a:xfrm flipH="0" flipV="0">
            <a:off x="9582302" y="1745221"/>
            <a:ext cx="53535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+24%</a:t>
            </a:r>
            <a:endParaRPr sz="1200"/>
          </a:p>
        </p:txBody>
      </p:sp>
      <p:sp>
        <p:nvSpPr>
          <p:cNvPr id="947799442" name="TextBox 49"/>
          <p:cNvSpPr txBox="1"/>
          <p:nvPr/>
        </p:nvSpPr>
        <p:spPr bwMode="auto">
          <a:xfrm flipH="0" flipV="0">
            <a:off x="9454371" y="3169036"/>
            <a:ext cx="814811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Chile</a:t>
            </a:r>
            <a:endParaRPr sz="1100" b="1"/>
          </a:p>
        </p:txBody>
      </p:sp>
      <p:sp>
        <p:nvSpPr>
          <p:cNvPr id="2141817261" name="Rectangle 50"/>
          <p:cNvSpPr/>
          <p:nvPr/>
        </p:nvSpPr>
        <p:spPr bwMode="auto">
          <a:xfrm>
            <a:off x="10194689" y="2115293"/>
            <a:ext cx="384265" cy="1039386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3049431" name="TextBox 51"/>
          <p:cNvSpPr txBox="1"/>
          <p:nvPr/>
        </p:nvSpPr>
        <p:spPr bwMode="auto">
          <a:xfrm flipH="0" flipV="0">
            <a:off x="10120274" y="1839710"/>
            <a:ext cx="53535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+22%</a:t>
            </a:r>
            <a:endParaRPr sz="1200"/>
          </a:p>
        </p:txBody>
      </p:sp>
      <p:sp>
        <p:nvSpPr>
          <p:cNvPr id="806015539" name="TextBox 52"/>
          <p:cNvSpPr txBox="1"/>
          <p:nvPr/>
        </p:nvSpPr>
        <p:spPr bwMode="auto">
          <a:xfrm flipH="0" flipV="0">
            <a:off x="9992343" y="3169036"/>
            <a:ext cx="814811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México</a:t>
            </a:r>
            <a:endParaRPr sz="1100" b="1"/>
          </a:p>
        </p:txBody>
      </p:sp>
      <p:sp>
        <p:nvSpPr>
          <p:cNvPr id="145099500" name="Rectangle 53"/>
          <p:cNvSpPr/>
          <p:nvPr/>
        </p:nvSpPr>
        <p:spPr bwMode="auto">
          <a:xfrm>
            <a:off x="10732661" y="2257028"/>
            <a:ext cx="384265" cy="897651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2562210" name="TextBox 54"/>
          <p:cNvSpPr txBox="1"/>
          <p:nvPr/>
        </p:nvSpPr>
        <p:spPr bwMode="auto">
          <a:xfrm flipH="0" flipV="0">
            <a:off x="10658246" y="1981445"/>
            <a:ext cx="53535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+19%</a:t>
            </a:r>
            <a:endParaRPr sz="1200"/>
          </a:p>
        </p:txBody>
      </p:sp>
      <p:sp>
        <p:nvSpPr>
          <p:cNvPr id="1830976245" name="TextBox 55"/>
          <p:cNvSpPr txBox="1"/>
          <p:nvPr/>
        </p:nvSpPr>
        <p:spPr bwMode="auto">
          <a:xfrm flipH="0" flipV="0">
            <a:off x="10530316" y="3169036"/>
            <a:ext cx="814811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Perú</a:t>
            </a:r>
            <a:endParaRPr sz="1100" b="1"/>
          </a:p>
        </p:txBody>
      </p:sp>
      <p:sp>
        <p:nvSpPr>
          <p:cNvPr id="2017242192" name="Rectangle 56"/>
          <p:cNvSpPr/>
          <p:nvPr/>
        </p:nvSpPr>
        <p:spPr bwMode="auto">
          <a:xfrm>
            <a:off x="11270633" y="2304273"/>
            <a:ext cx="384265" cy="850406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4755716" name="TextBox 57"/>
          <p:cNvSpPr txBox="1"/>
          <p:nvPr/>
        </p:nvSpPr>
        <p:spPr bwMode="auto">
          <a:xfrm flipH="0" flipV="0">
            <a:off x="11196218" y="2028690"/>
            <a:ext cx="53535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+18%</a:t>
            </a:r>
            <a:endParaRPr sz="1200"/>
          </a:p>
        </p:txBody>
      </p:sp>
      <p:sp>
        <p:nvSpPr>
          <p:cNvPr id="239758022" name="TextBox 58"/>
          <p:cNvSpPr txBox="1"/>
          <p:nvPr/>
        </p:nvSpPr>
        <p:spPr bwMode="auto">
          <a:xfrm flipH="0" flipV="0">
            <a:off x="11068287" y="3154678"/>
            <a:ext cx="814811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Argentina</a:t>
            </a:r>
            <a:endParaRPr sz="1100" b="1"/>
          </a:p>
        </p:txBody>
      </p:sp>
      <p:sp>
        <p:nvSpPr>
          <p:cNvPr id="304200140" name="TextBox 59"/>
          <p:cNvSpPr txBox="1"/>
          <p:nvPr/>
        </p:nvSpPr>
        <p:spPr bwMode="auto">
          <a:xfrm flipH="0" flipV="0">
            <a:off x="8048879" y="3428999"/>
            <a:ext cx="3961512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555566"/>
                </a:solidFill>
              </a:rPr>
              <a:t>Media global: +10.5%</a:t>
            </a:r>
            <a:endParaRPr sz="1400" b="1"/>
          </a:p>
        </p:txBody>
      </p:sp>
      <p:graphicFrame>
        <p:nvGraphicFramePr>
          <p:cNvPr id="311021526" name="Table 60"/>
          <p:cNvGraphicFramePr>
            <a:graphicFrameLocks xmlns:a="http://schemas.openxmlformats.org/drawingml/2006/main" noGrp="1"/>
          </p:cNvGraphicFramePr>
          <p:nvPr/>
        </p:nvGraphicFramePr>
        <p:xfrm rot="0">
          <a:off x="274320" y="3840480"/>
          <a:ext cx="11640312" cy="187451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328062"/>
                <a:gridCol w="2328062"/>
                <a:gridCol w="2328062"/>
                <a:gridCol w="2328062"/>
                <a:gridCol w="2328064"/>
              </a:tblGrid>
              <a:tr h="31241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Plataforma</a:t>
                      </a:r>
                      <a:endParaRPr sz="1400" b="1"/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Contenido total EDM</a:t>
                      </a:r>
                      <a:endParaRPr sz="1400" b="1"/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En español</a:t>
                      </a:r>
                      <a:endParaRPr sz="1400" b="1"/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% español</a:t>
                      </a:r>
                      <a:endParaRPr sz="1400" b="1"/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Demanda hispanohablante</a:t>
                      </a:r>
                      <a:endParaRPr sz="1400" b="1"/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1241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YouTube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4.2M+ videos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~504K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12%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340K búsquedas/mes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1241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Udemy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1,800+ cursos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~126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7%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85K inscripciones/mes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31241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Coursera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220 cursos música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~9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4%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38K búsquedas/mes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1241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SoundCloud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350M+ tracks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Est. ~28M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8%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28M+ usuarios LATAM</a:t>
                      </a:r>
                      <a:endParaRPr sz="1400" b="1"/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31242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TikTok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N/A (viral)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Dominante MX/CO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~40%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111111"/>
                          </a:solidFill>
                        </a:rPr>
                        <a:t>Explosivo 16–24 años</a:t>
                      </a:r>
                      <a:endParaRPr sz="1400" b="1"/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233775677" name="Rectangle 61"/>
          <p:cNvSpPr/>
          <p:nvPr/>
        </p:nvSpPr>
        <p:spPr bwMode="auto">
          <a:xfrm>
            <a:off x="274320" y="5806440"/>
            <a:ext cx="11640312" cy="804672"/>
          </a:xfrm>
          <a:prstGeom prst="rect">
            <a:avLst/>
          </a:prstGeom>
          <a:solidFill>
            <a:srgbClr val="EAF0F8"/>
          </a:solidFill>
          <a:ln w="25400">
            <a:solidFill>
              <a:srgbClr val="D84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/>
          </a:p>
        </p:txBody>
      </p:sp>
      <p:sp>
        <p:nvSpPr>
          <p:cNvPr id="139814920" name="TextBox 62"/>
          <p:cNvSpPr txBox="1"/>
          <p:nvPr/>
        </p:nvSpPr>
        <p:spPr bwMode="auto">
          <a:xfrm>
            <a:off x="384048" y="5913729"/>
            <a:ext cx="11421575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D84315"/>
                </a:solidFill>
              </a:rPr>
              <a:t>Colombia +31% YoY — mayor crecimiento LATAM. Solo 4–12% del contenido electrónica está en español.</a:t>
            </a:r>
            <a:endParaRPr sz="1400" b="1"/>
          </a:p>
        </p:txBody>
      </p:sp>
      <p:sp>
        <p:nvSpPr>
          <p:cNvPr id="1503038253" name="TextBox 63"/>
          <p:cNvSpPr txBox="1"/>
          <p:nvPr/>
        </p:nvSpPr>
        <p:spPr bwMode="auto">
          <a:xfrm>
            <a:off x="384048" y="6181952"/>
            <a:ext cx="11421575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1A1A3E"/>
                </a:solidFill>
              </a:rPr>
              <a:t>340K+ búsquedas/mes sin resolver = oportunidad directa para GZBR Módulo 10.</a:t>
            </a:r>
            <a:endParaRPr sz="1400" b="1"/>
          </a:p>
        </p:txBody>
      </p:sp>
      <p:sp>
        <p:nvSpPr>
          <p:cNvPr id="1675909922" name="Rectangle 64"/>
          <p:cNvSpPr/>
          <p:nvPr/>
        </p:nvSpPr>
        <p:spPr bwMode="auto">
          <a:xfrm>
            <a:off x="0" y="6565392"/>
            <a:ext cx="12188952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5502469" name="TextBox 65"/>
          <p:cNvSpPr txBox="1"/>
          <p:nvPr/>
        </p:nvSpPr>
        <p:spPr bwMode="auto"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700" b="0" i="0">
                <a:solidFill>
                  <a:srgbClr val="555566"/>
                </a:solidFill>
              </a:rPr>
              <a:t>GZBR GuitarZero to BandRock — Módulo 10: Electrónica Global — V8.3 — Mar 2026 — Uso interno ICA. No distribuir sin autorización.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994490" name="Rectangle 1"/>
          <p:cNvSpPr/>
          <p:nvPr/>
        </p:nvSpPr>
        <p:spPr bwMode="auto">
          <a:xfrm>
            <a:off x="0" y="0"/>
            <a:ext cx="12188952" cy="5943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96805" name="TextBox 2"/>
          <p:cNvSpPr txBox="1"/>
          <p:nvPr/>
        </p:nvSpPr>
        <p:spPr bwMode="auto">
          <a:xfrm>
            <a:off x="182880" y="0"/>
            <a:ext cx="11823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FFFFFF"/>
                </a:solidFill>
              </a:rPr>
              <a:t>GZBR GuitarZero to BandRock — Módulo 10 — Electrónica Global</a:t>
            </a:r>
            <a:endParaRPr/>
          </a:p>
        </p:txBody>
      </p:sp>
      <p:sp>
        <p:nvSpPr>
          <p:cNvPr id="2127519081" name="TextBox 3"/>
          <p:cNvSpPr txBox="1"/>
          <p:nvPr/>
        </p:nvSpPr>
        <p:spPr bwMode="auto">
          <a:xfrm>
            <a:off x="182880" y="329184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AACCEE"/>
                </a:solidFill>
              </a:rPr>
              <a:t>Reporte de Mercado · V8.3 · Mar 2026</a:t>
            </a:r>
            <a:endParaRPr/>
          </a:p>
        </p:txBody>
      </p:sp>
      <p:sp>
        <p:nvSpPr>
          <p:cNvPr id="781762734" name="Rectangle 4"/>
          <p:cNvSpPr/>
          <p:nvPr/>
        </p:nvSpPr>
        <p:spPr bwMode="auto">
          <a:xfrm>
            <a:off x="0" y="658368"/>
            <a:ext cx="12188952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9613394" name="TextBox 5"/>
          <p:cNvSpPr txBox="1"/>
          <p:nvPr/>
        </p:nvSpPr>
        <p:spPr bwMode="auto">
          <a:xfrm>
            <a:off x="182880" y="658368"/>
            <a:ext cx="11823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1" i="0">
                <a:solidFill>
                  <a:srgbClr val="FFFFFF"/>
                </a:solidFill>
              </a:rPr>
              <a:t>SECCIÓN 4 — Hardware: Accesibilidad, Costo y Dispositivos Clave</a:t>
            </a:r>
            <a:endParaRPr/>
          </a:p>
        </p:txBody>
      </p:sp>
      <p:graphicFrame>
        <p:nvGraphicFramePr>
          <p:cNvPr id="1251769251" name="Table 6"/>
          <p:cNvGraphicFramePr>
            <a:graphicFrameLocks xmlns:a="http://schemas.openxmlformats.org/drawingml/2006/main" noGrp="1"/>
          </p:cNvGraphicFramePr>
          <p:nvPr/>
        </p:nvGraphicFramePr>
        <p:xfrm rot="0">
          <a:off x="274320" y="1115568"/>
          <a:ext cx="11640312" cy="26060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328062"/>
                <a:gridCol w="2328062"/>
                <a:gridCol w="2328062"/>
                <a:gridCol w="2328062"/>
                <a:gridCol w="2328064"/>
              </a:tblGrid>
              <a:tr h="37229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Tier</a:t>
                      </a:r>
                      <a:endParaRPr sz="1200" b="1"/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Dispositivo / Software</a:t>
                      </a:r>
                      <a:endParaRPr sz="1200" b="1"/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Precio USD</a:t>
                      </a:r>
                      <a:endParaRPr sz="1200" b="1"/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Dónde conseguirlo</a:t>
                      </a:r>
                      <a:endParaRPr sz="1200" b="1"/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Para quién</a:t>
                      </a:r>
                      <a:endParaRPr sz="1200" b="1"/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7229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0 — Free</a:t>
                      </a:r>
                      <a:endParaRPr sz="12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GarageBand (iOS) / LMMS (PC)</a:t>
                      </a:r>
                      <a:endParaRPr sz="12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$0</a:t>
                      </a:r>
                      <a:endParaRPr sz="12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App Store / Web</a:t>
                      </a:r>
                      <a:endParaRPr sz="12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Principiante absoluto</a:t>
                      </a:r>
                      <a:endParaRPr sz="1200" b="1"/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7229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1 — Mobile</a:t>
                      </a:r>
                      <a:endParaRPr sz="12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FL Studio Mobile / Caustic 3</a:t>
                      </a:r>
                      <a:endParaRPr sz="12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$15–20</a:t>
                      </a:r>
                      <a:endParaRPr sz="12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Play / App Store</a:t>
                      </a:r>
                      <a:endParaRPr sz="12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Exploración inicial</a:t>
                      </a:r>
                      <a:endParaRPr sz="1200" b="1"/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37229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2 — Entry</a:t>
                      </a:r>
                      <a:endParaRPr sz="12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Pocket Operator / Korg Volca Beats</a:t>
                      </a:r>
                      <a:endParaRPr sz="12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$89–130</a:t>
                      </a:r>
                      <a:endParaRPr sz="12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Amazon / Guitar Center</a:t>
                      </a:r>
                      <a:endParaRPr sz="12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Primera pieza hardware</a:t>
                      </a:r>
                      <a:endParaRPr sz="1200" b="1"/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7229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3 — Mid</a:t>
                      </a:r>
                      <a:endParaRPr sz="12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Arturia MiniFreak / Behringer D</a:t>
                      </a:r>
                      <a:endParaRPr sz="12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$249–349</a:t>
                      </a:r>
                      <a:endParaRPr sz="12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Sweetwater / Thomann</a:t>
                      </a:r>
                      <a:endParaRPr sz="12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Síntesis seria · live act</a:t>
                      </a:r>
                      <a:endParaRPr sz="1200" b="1"/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37229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4 — Pro DAW</a:t>
                      </a:r>
                      <a:endParaRPr sz="12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Ableton Live Intro / FL Studio</a:t>
                      </a:r>
                      <a:endParaRPr sz="12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$99–499</a:t>
                      </a:r>
                      <a:endParaRPr sz="12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Sitio oficial</a:t>
                      </a:r>
                      <a:endParaRPr sz="12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Producción profesional</a:t>
                      </a:r>
                      <a:endParaRPr sz="1200" b="1"/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7229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5 — Full</a:t>
                      </a:r>
                      <a:endParaRPr sz="12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Ableton + MicroFreak + Launchpad</a:t>
                      </a:r>
                      <a:endParaRPr sz="12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$700–1,200</a:t>
                      </a:r>
                      <a:endParaRPr sz="12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Sweetwater / Reverb</a:t>
                      </a:r>
                      <a:endParaRPr sz="12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111111"/>
                          </a:solidFill>
                        </a:rPr>
                        <a:t>Setup completo live</a:t>
                      </a:r>
                      <a:endParaRPr sz="1200" b="1"/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1885188052" name="Rectangle 7"/>
          <p:cNvSpPr/>
          <p:nvPr/>
        </p:nvSpPr>
        <p:spPr bwMode="auto">
          <a:xfrm>
            <a:off x="274320" y="3933181"/>
            <a:ext cx="5486400" cy="21031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400"/>
          </a:p>
        </p:txBody>
      </p:sp>
      <p:sp>
        <p:nvSpPr>
          <p:cNvPr id="1922142796" name="TextBox 8"/>
          <p:cNvSpPr txBox="1"/>
          <p:nvPr/>
        </p:nvSpPr>
        <p:spPr bwMode="auto">
          <a:xfrm>
            <a:off x="274320" y="3858768"/>
            <a:ext cx="5487119" cy="33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1A1A3E"/>
                </a:solidFill>
              </a:rPr>
              <a:t>Adopción por Tier (% productores 2025)</a:t>
            </a:r>
            <a:endParaRPr sz="1600"/>
          </a:p>
        </p:txBody>
      </p:sp>
      <p:sp>
        <p:nvSpPr>
          <p:cNvPr id="331155302" name="Rectangle 9"/>
          <p:cNvSpPr/>
          <p:nvPr/>
        </p:nvSpPr>
        <p:spPr bwMode="auto">
          <a:xfrm>
            <a:off x="666205" y="4381835"/>
            <a:ext cx="587828" cy="10771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4427287" name="TextBox 10"/>
          <p:cNvSpPr txBox="1"/>
          <p:nvPr/>
        </p:nvSpPr>
        <p:spPr bwMode="auto">
          <a:xfrm>
            <a:off x="666204" y="4180666"/>
            <a:ext cx="588547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42%</a:t>
            </a:r>
            <a:endParaRPr sz="1200" b="1"/>
          </a:p>
        </p:txBody>
      </p:sp>
      <p:sp>
        <p:nvSpPr>
          <p:cNvPr id="2028025664" name="TextBox 11"/>
          <p:cNvSpPr txBox="1"/>
          <p:nvPr/>
        </p:nvSpPr>
        <p:spPr bwMode="auto">
          <a:xfrm>
            <a:off x="548640" y="5495544"/>
            <a:ext cx="82368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Free $0</a:t>
            </a:r>
            <a:endParaRPr sz="1200" b="1"/>
          </a:p>
        </p:txBody>
      </p:sp>
      <p:sp>
        <p:nvSpPr>
          <p:cNvPr id="2025251229" name="Rectangle 12"/>
          <p:cNvSpPr/>
          <p:nvPr/>
        </p:nvSpPr>
        <p:spPr bwMode="auto">
          <a:xfrm>
            <a:off x="1489165" y="4740879"/>
            <a:ext cx="587828" cy="7180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5726030" name="TextBox 13"/>
          <p:cNvSpPr txBox="1"/>
          <p:nvPr/>
        </p:nvSpPr>
        <p:spPr bwMode="auto">
          <a:xfrm>
            <a:off x="1489164" y="4539710"/>
            <a:ext cx="588547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28%</a:t>
            </a:r>
            <a:endParaRPr sz="1200" b="1"/>
          </a:p>
        </p:txBody>
      </p:sp>
      <p:sp>
        <p:nvSpPr>
          <p:cNvPr id="1667117017" name="TextBox 14"/>
          <p:cNvSpPr txBox="1"/>
          <p:nvPr/>
        </p:nvSpPr>
        <p:spPr bwMode="auto">
          <a:xfrm>
            <a:off x="1371600" y="5495544"/>
            <a:ext cx="823680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Mobile $15</a:t>
            </a:r>
            <a:endParaRPr sz="1200" b="1"/>
          </a:p>
        </p:txBody>
      </p:sp>
      <p:sp>
        <p:nvSpPr>
          <p:cNvPr id="182249012" name="Rectangle 15"/>
          <p:cNvSpPr/>
          <p:nvPr/>
        </p:nvSpPr>
        <p:spPr bwMode="auto">
          <a:xfrm>
            <a:off x="2312125" y="5099923"/>
            <a:ext cx="587828" cy="359044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1246661" name="TextBox 16"/>
          <p:cNvSpPr txBox="1"/>
          <p:nvPr/>
        </p:nvSpPr>
        <p:spPr bwMode="auto">
          <a:xfrm>
            <a:off x="2312124" y="4898754"/>
            <a:ext cx="588547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14%</a:t>
            </a:r>
            <a:endParaRPr sz="1200" b="1"/>
          </a:p>
        </p:txBody>
      </p:sp>
      <p:sp>
        <p:nvSpPr>
          <p:cNvPr id="1203872472" name="TextBox 17"/>
          <p:cNvSpPr txBox="1"/>
          <p:nvPr/>
        </p:nvSpPr>
        <p:spPr bwMode="auto">
          <a:xfrm>
            <a:off x="2194560" y="5495544"/>
            <a:ext cx="82368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Entry $89</a:t>
            </a:r>
            <a:endParaRPr sz="1200" b="1"/>
          </a:p>
        </p:txBody>
      </p:sp>
      <p:sp>
        <p:nvSpPr>
          <p:cNvPr id="1041754891" name="Rectangle 18"/>
          <p:cNvSpPr/>
          <p:nvPr/>
        </p:nvSpPr>
        <p:spPr bwMode="auto">
          <a:xfrm>
            <a:off x="3135085" y="5228153"/>
            <a:ext cx="587828" cy="230814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6871643" name="TextBox 19"/>
          <p:cNvSpPr txBox="1"/>
          <p:nvPr/>
        </p:nvSpPr>
        <p:spPr bwMode="auto">
          <a:xfrm>
            <a:off x="3135084" y="5026984"/>
            <a:ext cx="588547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9%</a:t>
            </a:r>
            <a:endParaRPr sz="1200" b="1"/>
          </a:p>
        </p:txBody>
      </p:sp>
      <p:sp>
        <p:nvSpPr>
          <p:cNvPr id="595816752" name="TextBox 20"/>
          <p:cNvSpPr txBox="1"/>
          <p:nvPr/>
        </p:nvSpPr>
        <p:spPr bwMode="auto">
          <a:xfrm>
            <a:off x="3017519" y="5495544"/>
            <a:ext cx="82368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Mid $249</a:t>
            </a:r>
            <a:endParaRPr sz="1200" b="1"/>
          </a:p>
        </p:txBody>
      </p:sp>
      <p:sp>
        <p:nvSpPr>
          <p:cNvPr id="861889418" name="Rectangle 21"/>
          <p:cNvSpPr/>
          <p:nvPr/>
        </p:nvSpPr>
        <p:spPr bwMode="auto">
          <a:xfrm>
            <a:off x="3958045" y="5330737"/>
            <a:ext cx="587828" cy="12823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8658576" name="TextBox 22"/>
          <p:cNvSpPr txBox="1"/>
          <p:nvPr/>
        </p:nvSpPr>
        <p:spPr bwMode="auto">
          <a:xfrm>
            <a:off x="3958044" y="5129568"/>
            <a:ext cx="588547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5%</a:t>
            </a:r>
            <a:endParaRPr sz="1200" b="1"/>
          </a:p>
        </p:txBody>
      </p:sp>
      <p:sp>
        <p:nvSpPr>
          <p:cNvPr id="1019925812" name="TextBox 23"/>
          <p:cNvSpPr txBox="1"/>
          <p:nvPr/>
        </p:nvSpPr>
        <p:spPr bwMode="auto">
          <a:xfrm>
            <a:off x="3840480" y="5495544"/>
            <a:ext cx="82368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Pro $99</a:t>
            </a:r>
            <a:endParaRPr sz="1200" b="1"/>
          </a:p>
        </p:txBody>
      </p:sp>
      <p:sp>
        <p:nvSpPr>
          <p:cNvPr id="1364473365" name="Rectangle 24"/>
          <p:cNvSpPr/>
          <p:nvPr/>
        </p:nvSpPr>
        <p:spPr bwMode="auto">
          <a:xfrm>
            <a:off x="4781005" y="5407675"/>
            <a:ext cx="587828" cy="5129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3054794" name="TextBox 25"/>
          <p:cNvSpPr txBox="1"/>
          <p:nvPr/>
        </p:nvSpPr>
        <p:spPr bwMode="auto">
          <a:xfrm>
            <a:off x="4781004" y="5206506"/>
            <a:ext cx="588547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1A1A3E"/>
                </a:solidFill>
              </a:rPr>
              <a:t>2%</a:t>
            </a:r>
            <a:endParaRPr sz="1200" b="1"/>
          </a:p>
        </p:txBody>
      </p:sp>
      <p:sp>
        <p:nvSpPr>
          <p:cNvPr id="835277807" name="TextBox 26"/>
          <p:cNvSpPr txBox="1"/>
          <p:nvPr/>
        </p:nvSpPr>
        <p:spPr bwMode="auto">
          <a:xfrm>
            <a:off x="4663440" y="5495544"/>
            <a:ext cx="823680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Full $700+</a:t>
            </a:r>
            <a:endParaRPr sz="1200" b="1"/>
          </a:p>
        </p:txBody>
      </p:sp>
      <p:sp>
        <p:nvSpPr>
          <p:cNvPr id="1976159336" name="Rectangle 27"/>
          <p:cNvSpPr/>
          <p:nvPr/>
        </p:nvSpPr>
        <p:spPr bwMode="auto">
          <a:xfrm>
            <a:off x="5943600" y="3858768"/>
            <a:ext cx="3017519" cy="21031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400"/>
          </a:p>
        </p:txBody>
      </p:sp>
      <p:sp>
        <p:nvSpPr>
          <p:cNvPr id="1008101550" name="TextBox 28"/>
          <p:cNvSpPr txBox="1"/>
          <p:nvPr/>
        </p:nvSpPr>
        <p:spPr bwMode="auto">
          <a:xfrm>
            <a:off x="5943600" y="3858768"/>
            <a:ext cx="3017880" cy="33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1A1A3E"/>
                </a:solidFill>
              </a:rPr>
              <a:t>Market Share DAWs 2025</a:t>
            </a:r>
            <a:endParaRPr sz="1600"/>
          </a:p>
        </p:txBody>
      </p:sp>
      <p:sp>
        <p:nvSpPr>
          <p:cNvPr id="190142193" name="Rectangle 29"/>
          <p:cNvSpPr/>
          <p:nvPr/>
        </p:nvSpPr>
        <p:spPr bwMode="auto">
          <a:xfrm>
            <a:off x="6276702" y="4381835"/>
            <a:ext cx="293914" cy="1077132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6342986" name="TextBox 30"/>
          <p:cNvSpPr txBox="1"/>
          <p:nvPr/>
        </p:nvSpPr>
        <p:spPr bwMode="auto">
          <a:xfrm flipH="0" flipV="0">
            <a:off x="6276701" y="4031838"/>
            <a:ext cx="352996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1A1A3E"/>
                </a:solidFill>
              </a:rPr>
              <a:t>29%</a:t>
            </a:r>
            <a:endParaRPr sz="1100" b="1"/>
          </a:p>
        </p:txBody>
      </p:sp>
      <p:sp>
        <p:nvSpPr>
          <p:cNvPr id="1593742414" name="TextBox 31"/>
          <p:cNvSpPr txBox="1"/>
          <p:nvPr/>
        </p:nvSpPr>
        <p:spPr bwMode="auto">
          <a:xfrm flipH="0" flipV="0">
            <a:off x="6043944" y="5569957"/>
            <a:ext cx="669754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FL Studio</a:t>
            </a:r>
            <a:endParaRPr sz="1100" b="1"/>
          </a:p>
        </p:txBody>
      </p:sp>
      <p:sp>
        <p:nvSpPr>
          <p:cNvPr id="443385255" name="Rectangle 32"/>
          <p:cNvSpPr/>
          <p:nvPr/>
        </p:nvSpPr>
        <p:spPr bwMode="auto">
          <a:xfrm>
            <a:off x="6688182" y="4456120"/>
            <a:ext cx="293914" cy="1002847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6093538" name="TextBox 33"/>
          <p:cNvSpPr txBox="1"/>
          <p:nvPr/>
        </p:nvSpPr>
        <p:spPr bwMode="auto">
          <a:xfrm flipH="0" flipV="0">
            <a:off x="6688181" y="4106123"/>
            <a:ext cx="352996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1A1A3E"/>
                </a:solidFill>
              </a:rPr>
              <a:t>27%</a:t>
            </a:r>
            <a:endParaRPr sz="1100" b="1"/>
          </a:p>
        </p:txBody>
      </p:sp>
      <p:sp>
        <p:nvSpPr>
          <p:cNvPr id="1666336374" name="TextBox 34"/>
          <p:cNvSpPr txBox="1"/>
          <p:nvPr/>
        </p:nvSpPr>
        <p:spPr bwMode="auto">
          <a:xfrm flipH="0" flipV="0">
            <a:off x="6453200" y="5421129"/>
            <a:ext cx="673419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Ableton</a:t>
            </a:r>
            <a:endParaRPr sz="1100" b="1"/>
          </a:p>
        </p:txBody>
      </p:sp>
      <p:sp>
        <p:nvSpPr>
          <p:cNvPr id="325383253" name="Rectangle 35"/>
          <p:cNvSpPr/>
          <p:nvPr/>
        </p:nvSpPr>
        <p:spPr bwMode="auto">
          <a:xfrm>
            <a:off x="7099662" y="4790403"/>
            <a:ext cx="293914" cy="6685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5558563" name="TextBox 36"/>
          <p:cNvSpPr txBox="1"/>
          <p:nvPr/>
        </p:nvSpPr>
        <p:spPr bwMode="auto">
          <a:xfrm flipH="0" flipV="0">
            <a:off x="7099661" y="4440406"/>
            <a:ext cx="352996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1A1A3E"/>
                </a:solidFill>
              </a:rPr>
              <a:t>18%</a:t>
            </a:r>
            <a:endParaRPr sz="1100" b="1"/>
          </a:p>
        </p:txBody>
      </p:sp>
      <p:sp>
        <p:nvSpPr>
          <p:cNvPr id="772950674" name="TextBox 37"/>
          <p:cNvSpPr txBox="1"/>
          <p:nvPr/>
        </p:nvSpPr>
        <p:spPr bwMode="auto">
          <a:xfrm flipH="0" flipV="0">
            <a:off x="6941319" y="5569957"/>
            <a:ext cx="669754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GarageBand</a:t>
            </a:r>
            <a:endParaRPr sz="1100" b="1"/>
          </a:p>
        </p:txBody>
      </p:sp>
      <p:sp>
        <p:nvSpPr>
          <p:cNvPr id="773634990" name="Rectangle 38"/>
          <p:cNvSpPr/>
          <p:nvPr/>
        </p:nvSpPr>
        <p:spPr bwMode="auto">
          <a:xfrm>
            <a:off x="7511142" y="5013258"/>
            <a:ext cx="293914" cy="445709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6777349" name="TextBox 39"/>
          <p:cNvSpPr txBox="1"/>
          <p:nvPr/>
        </p:nvSpPr>
        <p:spPr bwMode="auto">
          <a:xfrm flipH="0" flipV="0">
            <a:off x="7511141" y="4663261"/>
            <a:ext cx="352996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1A1A3E"/>
                </a:solidFill>
              </a:rPr>
              <a:t>12%</a:t>
            </a:r>
            <a:endParaRPr sz="1100" b="1"/>
          </a:p>
        </p:txBody>
      </p:sp>
      <p:sp>
        <p:nvSpPr>
          <p:cNvPr id="1069904688" name="TextBox 40"/>
          <p:cNvSpPr txBox="1"/>
          <p:nvPr/>
        </p:nvSpPr>
        <p:spPr bwMode="auto">
          <a:xfrm flipH="0" flipV="0">
            <a:off x="7328916" y="5421129"/>
            <a:ext cx="618503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Logic Pro</a:t>
            </a:r>
            <a:endParaRPr sz="1100" b="1"/>
          </a:p>
        </p:txBody>
      </p:sp>
      <p:sp>
        <p:nvSpPr>
          <p:cNvPr id="1102973822" name="Rectangle 41"/>
          <p:cNvSpPr/>
          <p:nvPr/>
        </p:nvSpPr>
        <p:spPr bwMode="auto">
          <a:xfrm>
            <a:off x="7922622" y="5198970"/>
            <a:ext cx="293914" cy="259997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3067578" name="TextBox 42"/>
          <p:cNvSpPr txBox="1"/>
          <p:nvPr/>
        </p:nvSpPr>
        <p:spPr bwMode="auto">
          <a:xfrm flipH="0" flipV="0">
            <a:off x="7922621" y="4848973"/>
            <a:ext cx="352996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1A1A3E"/>
                </a:solidFill>
              </a:rPr>
              <a:t>7%</a:t>
            </a:r>
            <a:endParaRPr sz="1100" b="1"/>
          </a:p>
        </p:txBody>
      </p:sp>
      <p:sp>
        <p:nvSpPr>
          <p:cNvPr id="697334280" name="TextBox 43"/>
          <p:cNvSpPr txBox="1"/>
          <p:nvPr/>
        </p:nvSpPr>
        <p:spPr bwMode="auto">
          <a:xfrm flipH="0" flipV="0">
            <a:off x="7689864" y="5718786"/>
            <a:ext cx="669754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Bitwig</a:t>
            </a:r>
            <a:endParaRPr sz="1100" b="1"/>
          </a:p>
        </p:txBody>
      </p:sp>
      <p:sp>
        <p:nvSpPr>
          <p:cNvPr id="449959215" name="Rectangle 44"/>
          <p:cNvSpPr/>
          <p:nvPr/>
        </p:nvSpPr>
        <p:spPr bwMode="auto">
          <a:xfrm>
            <a:off x="8334102" y="5198970"/>
            <a:ext cx="293914" cy="259997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2095624" name="TextBox 45"/>
          <p:cNvSpPr txBox="1"/>
          <p:nvPr/>
        </p:nvSpPr>
        <p:spPr bwMode="auto">
          <a:xfrm flipH="0" flipV="0">
            <a:off x="8334101" y="4848973"/>
            <a:ext cx="352996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1A1A3E"/>
                </a:solidFill>
              </a:rPr>
              <a:t>7%</a:t>
            </a:r>
            <a:endParaRPr sz="1100" b="1"/>
          </a:p>
        </p:txBody>
      </p:sp>
      <p:sp>
        <p:nvSpPr>
          <p:cNvPr id="386965897" name="TextBox 46"/>
          <p:cNvSpPr txBox="1"/>
          <p:nvPr/>
        </p:nvSpPr>
        <p:spPr bwMode="auto">
          <a:xfrm flipH="0" flipV="0">
            <a:off x="8175759" y="5495544"/>
            <a:ext cx="669754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555566"/>
                </a:solidFill>
              </a:rPr>
              <a:t>Otros</a:t>
            </a:r>
            <a:endParaRPr sz="1100" b="1"/>
          </a:p>
        </p:txBody>
      </p:sp>
      <p:sp>
        <p:nvSpPr>
          <p:cNvPr id="402366261" name="Rectangle 47"/>
          <p:cNvSpPr/>
          <p:nvPr/>
        </p:nvSpPr>
        <p:spPr bwMode="auto">
          <a:xfrm>
            <a:off x="9052560" y="3858768"/>
            <a:ext cx="2953512" cy="21031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400"/>
          </a:p>
        </p:txBody>
      </p:sp>
      <p:sp>
        <p:nvSpPr>
          <p:cNvPr id="927579085" name="TextBox 48"/>
          <p:cNvSpPr txBox="1"/>
          <p:nvPr/>
        </p:nvSpPr>
        <p:spPr bwMode="auto">
          <a:xfrm>
            <a:off x="9052560" y="3858768"/>
            <a:ext cx="2953872" cy="33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1A1A3E"/>
                </a:solidFill>
              </a:rPr>
              <a:t>Más Buscados (búsquedas/mes)</a:t>
            </a:r>
            <a:endParaRPr sz="1600"/>
          </a:p>
        </p:txBody>
      </p:sp>
      <p:sp>
        <p:nvSpPr>
          <p:cNvPr id="365274162" name="Rectangle 49"/>
          <p:cNvSpPr/>
          <p:nvPr/>
        </p:nvSpPr>
        <p:spPr bwMode="auto">
          <a:xfrm>
            <a:off x="9384138" y="4381835"/>
            <a:ext cx="286294" cy="1077132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8250857" name="TextBox 50"/>
          <p:cNvSpPr txBox="1"/>
          <p:nvPr/>
        </p:nvSpPr>
        <p:spPr bwMode="auto">
          <a:xfrm>
            <a:off x="9384138" y="4106252"/>
            <a:ext cx="287013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1A1A3E"/>
                </a:solidFill>
              </a:rPr>
              <a:t>890K</a:t>
            </a:r>
            <a:endParaRPr sz="1000"/>
          </a:p>
        </p:txBody>
      </p:sp>
      <p:sp>
        <p:nvSpPr>
          <p:cNvPr id="1410188498" name="TextBox 51"/>
          <p:cNvSpPr txBox="1"/>
          <p:nvPr/>
        </p:nvSpPr>
        <p:spPr bwMode="auto">
          <a:xfrm flipH="0" flipV="0">
            <a:off x="9154452" y="5495543"/>
            <a:ext cx="575398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555566"/>
                </a:solidFill>
              </a:rPr>
              <a:t>FL Studio</a:t>
            </a:r>
            <a:endParaRPr sz="900" b="1"/>
          </a:p>
        </p:txBody>
      </p:sp>
      <p:sp>
        <p:nvSpPr>
          <p:cNvPr id="560503268" name="Rectangle 52"/>
          <p:cNvSpPr/>
          <p:nvPr/>
        </p:nvSpPr>
        <p:spPr bwMode="auto">
          <a:xfrm>
            <a:off x="9784950" y="4539169"/>
            <a:ext cx="286294" cy="91979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655255" name="TextBox 53"/>
          <p:cNvSpPr txBox="1"/>
          <p:nvPr/>
        </p:nvSpPr>
        <p:spPr bwMode="auto">
          <a:xfrm>
            <a:off x="9784949" y="4263586"/>
            <a:ext cx="287013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1A1A3E"/>
                </a:solidFill>
              </a:rPr>
              <a:t>760K</a:t>
            </a:r>
            <a:endParaRPr sz="1000"/>
          </a:p>
        </p:txBody>
      </p:sp>
      <p:sp>
        <p:nvSpPr>
          <p:cNvPr id="1496790521" name="TextBox 54"/>
          <p:cNvSpPr txBox="1"/>
          <p:nvPr/>
        </p:nvSpPr>
        <p:spPr bwMode="auto">
          <a:xfrm flipH="0" flipV="0">
            <a:off x="9555265" y="5793199"/>
            <a:ext cx="575398" cy="22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555566"/>
                </a:solidFill>
              </a:rPr>
              <a:t>Ableton</a:t>
            </a:r>
            <a:endParaRPr sz="900" b="1"/>
          </a:p>
        </p:txBody>
      </p:sp>
      <p:sp>
        <p:nvSpPr>
          <p:cNvPr id="13759842" name="Rectangle 55"/>
          <p:cNvSpPr/>
          <p:nvPr/>
        </p:nvSpPr>
        <p:spPr bwMode="auto">
          <a:xfrm>
            <a:off x="10185762" y="4950658"/>
            <a:ext cx="286294" cy="50830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0878525" name="TextBox 56"/>
          <p:cNvSpPr txBox="1"/>
          <p:nvPr/>
        </p:nvSpPr>
        <p:spPr bwMode="auto">
          <a:xfrm>
            <a:off x="10185761" y="4675075"/>
            <a:ext cx="287013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1A1A3E"/>
                </a:solidFill>
              </a:rPr>
              <a:t>420K</a:t>
            </a:r>
            <a:endParaRPr sz="1000"/>
          </a:p>
        </p:txBody>
      </p:sp>
      <p:sp>
        <p:nvSpPr>
          <p:cNvPr id="1215229821" name="TextBox 57"/>
          <p:cNvSpPr txBox="1"/>
          <p:nvPr/>
        </p:nvSpPr>
        <p:spPr bwMode="auto">
          <a:xfrm flipH="0" flipV="0">
            <a:off x="9956076" y="5495543"/>
            <a:ext cx="575398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555566"/>
                </a:solidFill>
              </a:rPr>
              <a:t>Korg Volca</a:t>
            </a:r>
            <a:endParaRPr sz="900" b="1"/>
          </a:p>
        </p:txBody>
      </p:sp>
      <p:sp>
        <p:nvSpPr>
          <p:cNvPr id="511018325" name="Rectangle 58"/>
          <p:cNvSpPr/>
          <p:nvPr/>
        </p:nvSpPr>
        <p:spPr bwMode="auto">
          <a:xfrm>
            <a:off x="10586574" y="5083787"/>
            <a:ext cx="286294" cy="3751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3141566" name="TextBox 59"/>
          <p:cNvSpPr txBox="1"/>
          <p:nvPr/>
        </p:nvSpPr>
        <p:spPr bwMode="auto">
          <a:xfrm>
            <a:off x="10586574" y="4808204"/>
            <a:ext cx="287013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1A1A3E"/>
                </a:solidFill>
              </a:rPr>
              <a:t>310K</a:t>
            </a:r>
            <a:endParaRPr sz="1000"/>
          </a:p>
        </p:txBody>
      </p:sp>
      <p:sp>
        <p:nvSpPr>
          <p:cNvPr id="1507607658" name="TextBox 60"/>
          <p:cNvSpPr txBox="1"/>
          <p:nvPr/>
        </p:nvSpPr>
        <p:spPr bwMode="auto">
          <a:xfrm flipH="0" flipV="0">
            <a:off x="10356888" y="5644371"/>
            <a:ext cx="575398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555566"/>
                </a:solidFill>
              </a:rPr>
              <a:t>MiniFreak</a:t>
            </a:r>
            <a:endParaRPr sz="900" b="1"/>
          </a:p>
        </p:txBody>
      </p:sp>
      <p:sp>
        <p:nvSpPr>
          <p:cNvPr id="1996714220" name="Rectangle 61"/>
          <p:cNvSpPr/>
          <p:nvPr/>
        </p:nvSpPr>
        <p:spPr bwMode="auto">
          <a:xfrm>
            <a:off x="10987386" y="5120094"/>
            <a:ext cx="286294" cy="338873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8945817" name="TextBox 62"/>
          <p:cNvSpPr txBox="1"/>
          <p:nvPr/>
        </p:nvSpPr>
        <p:spPr bwMode="auto">
          <a:xfrm>
            <a:off x="10987385" y="4844511"/>
            <a:ext cx="287013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1A1A3E"/>
                </a:solidFill>
              </a:rPr>
              <a:t>280K</a:t>
            </a:r>
            <a:endParaRPr sz="1000"/>
          </a:p>
        </p:txBody>
      </p:sp>
      <p:sp>
        <p:nvSpPr>
          <p:cNvPr id="675381147" name="TextBox 63"/>
          <p:cNvSpPr txBox="1"/>
          <p:nvPr/>
        </p:nvSpPr>
        <p:spPr bwMode="auto">
          <a:xfrm flipH="0" flipV="0">
            <a:off x="10757701" y="5495543"/>
            <a:ext cx="575398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555566"/>
                </a:solidFill>
              </a:rPr>
              <a:t>Pocket Op.</a:t>
            </a:r>
            <a:endParaRPr sz="900" b="1"/>
          </a:p>
        </p:txBody>
      </p:sp>
      <p:sp>
        <p:nvSpPr>
          <p:cNvPr id="1415942965" name="Rectangle 64"/>
          <p:cNvSpPr/>
          <p:nvPr/>
        </p:nvSpPr>
        <p:spPr bwMode="auto">
          <a:xfrm>
            <a:off x="11388198" y="5162454"/>
            <a:ext cx="286294" cy="296513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8839483" name="TextBox 65"/>
          <p:cNvSpPr txBox="1"/>
          <p:nvPr/>
        </p:nvSpPr>
        <p:spPr bwMode="auto">
          <a:xfrm>
            <a:off x="11388197" y="4886871"/>
            <a:ext cx="287013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1A1A3E"/>
                </a:solidFill>
              </a:rPr>
              <a:t>245K</a:t>
            </a:r>
            <a:endParaRPr sz="1000"/>
          </a:p>
        </p:txBody>
      </p:sp>
      <p:sp>
        <p:nvSpPr>
          <p:cNvPr id="911261432" name="TextBox 66"/>
          <p:cNvSpPr txBox="1"/>
          <p:nvPr/>
        </p:nvSpPr>
        <p:spPr bwMode="auto">
          <a:xfrm flipH="0" flipV="0">
            <a:off x="11158512" y="5644371"/>
            <a:ext cx="705331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555566"/>
                </a:solidFill>
              </a:rPr>
              <a:t>Behringer D</a:t>
            </a:r>
            <a:endParaRPr sz="900" b="1"/>
          </a:p>
        </p:txBody>
      </p:sp>
      <p:sp>
        <p:nvSpPr>
          <p:cNvPr id="756780800" name="Rectangle 67"/>
          <p:cNvSpPr/>
          <p:nvPr/>
        </p:nvSpPr>
        <p:spPr bwMode="auto">
          <a:xfrm>
            <a:off x="274320" y="6053328"/>
            <a:ext cx="11640312" cy="557784"/>
          </a:xfrm>
          <a:prstGeom prst="rect">
            <a:avLst/>
          </a:prstGeom>
          <a:solidFill>
            <a:srgbClr val="EAF0F8"/>
          </a:solidFill>
          <a:ln w="2540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2823931" name="TextBox 68"/>
          <p:cNvSpPr txBox="1"/>
          <p:nvPr/>
        </p:nvSpPr>
        <p:spPr bwMode="auto">
          <a:xfrm>
            <a:off x="384048" y="6016055"/>
            <a:ext cx="11421935" cy="57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1" i="0">
                <a:solidFill>
                  <a:srgbClr val="D84315"/>
                </a:solidFill>
              </a:rPr>
              <a:t>ESTRATEGIA GZBR: Tier 2–3 ($89–349) = 23% del mercado y mayor crecimiento → sweet spot del ICA. FL Studio domina LATAM (29%) → DAW principal del currículo.</a:t>
            </a:r>
            <a:endParaRPr sz="1600"/>
          </a:p>
        </p:txBody>
      </p:sp>
      <p:sp>
        <p:nvSpPr>
          <p:cNvPr id="1116207698" name="Rectangle 69"/>
          <p:cNvSpPr/>
          <p:nvPr/>
        </p:nvSpPr>
        <p:spPr bwMode="auto">
          <a:xfrm>
            <a:off x="0" y="6565392"/>
            <a:ext cx="12188952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2918619" name="TextBox 70"/>
          <p:cNvSpPr txBox="1"/>
          <p:nvPr/>
        </p:nvSpPr>
        <p:spPr bwMode="auto"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700" b="0" i="0">
                <a:solidFill>
                  <a:srgbClr val="555566"/>
                </a:solidFill>
              </a:rPr>
              <a:t>GZBR GuitarZero to BandRock — Módulo 10: Electrónica Global — V8.3 — Mar 2026 — Uso interno ICA. No distribuir sin autorización.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857675" name="Rectangle 1"/>
          <p:cNvSpPr/>
          <p:nvPr/>
        </p:nvSpPr>
        <p:spPr bwMode="auto">
          <a:xfrm>
            <a:off x="0" y="0"/>
            <a:ext cx="12188952" cy="5943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9698466" name="TextBox 2"/>
          <p:cNvSpPr txBox="1"/>
          <p:nvPr/>
        </p:nvSpPr>
        <p:spPr bwMode="auto">
          <a:xfrm>
            <a:off x="182880" y="0"/>
            <a:ext cx="11823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FFFFFF"/>
                </a:solidFill>
              </a:rPr>
              <a:t>GZBR GuitarZero to BandRock — Módulo 10 — Electrónica Global</a:t>
            </a:r>
            <a:endParaRPr/>
          </a:p>
        </p:txBody>
      </p:sp>
      <p:sp>
        <p:nvSpPr>
          <p:cNvPr id="1645142963" name="TextBox 3"/>
          <p:cNvSpPr txBox="1"/>
          <p:nvPr/>
        </p:nvSpPr>
        <p:spPr bwMode="auto">
          <a:xfrm>
            <a:off x="182880" y="329184"/>
            <a:ext cx="11823912" cy="33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AACCEE"/>
                </a:solidFill>
              </a:rPr>
              <a:t>Reporte de Mercado · V8.3 · Mar 2026</a:t>
            </a:r>
            <a:endParaRPr sz="1600" b="1"/>
          </a:p>
        </p:txBody>
      </p:sp>
      <p:sp>
        <p:nvSpPr>
          <p:cNvPr id="161288261" name="Rectangle 4"/>
          <p:cNvSpPr/>
          <p:nvPr/>
        </p:nvSpPr>
        <p:spPr bwMode="auto">
          <a:xfrm>
            <a:off x="0" y="658368"/>
            <a:ext cx="12188952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1302301" name="TextBox 5"/>
          <p:cNvSpPr txBox="1"/>
          <p:nvPr/>
        </p:nvSpPr>
        <p:spPr bwMode="auto">
          <a:xfrm>
            <a:off x="182880" y="658368"/>
            <a:ext cx="11823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1" i="0">
                <a:solidFill>
                  <a:srgbClr val="FFFFFF"/>
                </a:solidFill>
              </a:rPr>
              <a:t>SECCIÓN 5 — Oportunidad GZBR: Módulo Electrónica (LATAM 2026–2028)</a:t>
            </a:r>
            <a:endParaRPr/>
          </a:p>
        </p:txBody>
      </p:sp>
      <p:sp>
        <p:nvSpPr>
          <p:cNvPr id="1580899380" name="Rectangle 6"/>
          <p:cNvSpPr/>
          <p:nvPr/>
        </p:nvSpPr>
        <p:spPr bwMode="auto">
          <a:xfrm flipH="0" flipV="0">
            <a:off x="274320" y="1115568"/>
            <a:ext cx="7132680" cy="658368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9622598" name="TextBox 7"/>
          <p:cNvSpPr txBox="1"/>
          <p:nvPr/>
        </p:nvSpPr>
        <p:spPr bwMode="auto">
          <a:xfrm>
            <a:off x="365760" y="1115568"/>
            <a:ext cx="7589880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FFFFFF"/>
                </a:solidFill>
              </a:rPr>
              <a:t>Productores electrónicos activos MX+CO+BR  →  3,400,000</a:t>
            </a:r>
            <a:endParaRPr sz="1800"/>
          </a:p>
        </p:txBody>
      </p:sp>
      <p:sp>
        <p:nvSpPr>
          <p:cNvPr id="1155120484" name="Rectangle 8"/>
          <p:cNvSpPr/>
          <p:nvPr/>
        </p:nvSpPr>
        <p:spPr bwMode="auto">
          <a:xfrm flipH="0" flipV="0">
            <a:off x="822960" y="1920240"/>
            <a:ext cx="6247899" cy="65836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426069" name="TextBox 9"/>
          <p:cNvSpPr txBox="1"/>
          <p:nvPr/>
        </p:nvSpPr>
        <p:spPr bwMode="auto">
          <a:xfrm>
            <a:off x="914400" y="1920240"/>
            <a:ext cx="6492600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FFFFFF"/>
                </a:solidFill>
              </a:rPr>
              <a:t>Contactables (digital)  →  520,000</a:t>
            </a:r>
            <a:endParaRPr sz="1800"/>
          </a:p>
        </p:txBody>
      </p:sp>
      <p:sp>
        <p:nvSpPr>
          <p:cNvPr id="165557772" name="Rectangle 10"/>
          <p:cNvSpPr/>
          <p:nvPr/>
        </p:nvSpPr>
        <p:spPr bwMode="auto">
          <a:xfrm flipH="0" flipV="0">
            <a:off x="1371599" y="2724911"/>
            <a:ext cx="5223009" cy="658368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6953191" name="TextBox 11"/>
          <p:cNvSpPr txBox="1"/>
          <p:nvPr/>
        </p:nvSpPr>
        <p:spPr bwMode="auto">
          <a:xfrm>
            <a:off x="1463040" y="2724911"/>
            <a:ext cx="5395320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FFFFFF"/>
                </a:solidFill>
              </a:rPr>
              <a:t>Interesados en curso estructurado  →  92,000</a:t>
            </a:r>
            <a:endParaRPr sz="1800"/>
          </a:p>
        </p:txBody>
      </p:sp>
      <p:sp>
        <p:nvSpPr>
          <p:cNvPr id="1367733989" name="Rectangle 12"/>
          <p:cNvSpPr/>
          <p:nvPr/>
        </p:nvSpPr>
        <p:spPr bwMode="auto">
          <a:xfrm flipH="0" flipV="0">
            <a:off x="1920240" y="3529583"/>
            <a:ext cx="4174956" cy="65836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7587366" name="TextBox 13"/>
          <p:cNvSpPr txBox="1"/>
          <p:nvPr/>
        </p:nvSpPr>
        <p:spPr bwMode="auto">
          <a:xfrm>
            <a:off x="2011680" y="3529584"/>
            <a:ext cx="4298040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FFFFFF"/>
                </a:solidFill>
              </a:rPr>
              <a:t>GZBR Módulo 10 Premium  →  4,200</a:t>
            </a:r>
            <a:endParaRPr sz="1800"/>
          </a:p>
        </p:txBody>
      </p:sp>
      <p:sp>
        <p:nvSpPr>
          <p:cNvPr id="1511378559" name="Rectangle 14"/>
          <p:cNvSpPr/>
          <p:nvPr/>
        </p:nvSpPr>
        <p:spPr bwMode="auto">
          <a:xfrm flipH="0" flipV="0">
            <a:off x="2245637" y="4334255"/>
            <a:ext cx="3515533" cy="65836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9931932" name="TextBox 15"/>
          <p:cNvSpPr txBox="1"/>
          <p:nvPr/>
        </p:nvSpPr>
        <p:spPr bwMode="auto">
          <a:xfrm flipH="0" flipV="0">
            <a:off x="2337077" y="4334256"/>
            <a:ext cx="3534876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111111"/>
                </a:solidFill>
              </a:rPr>
              <a:t>GZBR Módulo 10 VIP + ICA  →  620</a:t>
            </a:r>
            <a:endParaRPr sz="1800"/>
          </a:p>
        </p:txBody>
      </p:sp>
      <p:graphicFrame>
        <p:nvGraphicFramePr>
          <p:cNvPr id="612759423" name="Table 16"/>
          <p:cNvGraphicFramePr>
            <a:graphicFrameLocks xmlns:a="http://schemas.openxmlformats.org/drawingml/2006/main" noGrp="1"/>
          </p:cNvGraphicFramePr>
          <p:nvPr/>
        </p:nvGraphicFramePr>
        <p:xfrm rot="0">
          <a:off x="7502460" y="1115568"/>
          <a:ext cx="3776472" cy="35661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643372"/>
                <a:gridCol w="643372"/>
                <a:gridCol w="643372"/>
                <a:gridCol w="643372"/>
                <a:gridCol w="643372"/>
                <a:gridCol w="643372"/>
                <a:gridCol w="643372"/>
              </a:tblGrid>
              <a:tr h="5943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Plataforma</a:t>
                      </a:r>
                      <a:endParaRPr/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Español</a:t>
                      </a:r>
                      <a:endParaRPr/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Tiempo real</a:t>
                      </a:r>
                      <a:endParaRPr/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Comunidad</a:t>
                      </a:r>
                      <a:endParaRPr/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Hardware LATAM</a:t>
                      </a:r>
                      <a:endParaRPr/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ICA</a:t>
                      </a:r>
                      <a:endParaRPr/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Precio/mes</a:t>
                      </a:r>
                      <a:endParaRPr/>
                    </a:p>
                  </a:txBody>
                  <a:tcPr>
                    <a:solidFill>
                      <a:srgbClr val="6A1B9A"/>
                    </a:solidFill>
                  </a:tcPr>
                </a:tc>
              </a:tr>
              <a:tr h="5943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GZBR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✔ Sí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✔ JackTrip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✔ Skool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✔ Foco LATAM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✔ 20%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$48–120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943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Udemy</a:t>
                      </a:r>
                      <a:endParaRPr sz="10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~Parcial</a:t>
                      </a:r>
                      <a:endParaRPr sz="10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✗ No</a:t>
                      </a:r>
                      <a:endParaRPr sz="10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✗ Foros</a:t>
                      </a:r>
                      <a:endParaRPr sz="10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✗ Genérico</a:t>
                      </a:r>
                      <a:endParaRPr sz="10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✗ No</a:t>
                      </a:r>
                      <a:endParaRPr sz="10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$15–30</a:t>
                      </a:r>
                      <a:endParaRPr sz="1000" b="1"/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5943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YouTube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~12%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✗ No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✗ Básica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✗ Sin struct.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✗ No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Gratis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943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Coursera / edX</a:t>
                      </a:r>
                      <a:endParaRPr sz="10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~4%</a:t>
                      </a:r>
                      <a:endParaRPr sz="10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✗ No</a:t>
                      </a:r>
                      <a:endParaRPr sz="10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~Limitada</a:t>
                      </a:r>
                      <a:endParaRPr sz="10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✗ Sin hardware</a:t>
                      </a:r>
                      <a:endParaRPr sz="10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✗ No</a:t>
                      </a:r>
                      <a:endParaRPr sz="1000" b="1"/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$39–79</a:t>
                      </a:r>
                      <a:endParaRPr sz="1000" b="1"/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5943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Point Blank MX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~Sí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~Semanal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~Media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✗ Sin foco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✗ No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111111"/>
                          </a:solidFill>
                        </a:rPr>
                        <a:t>$80–200</a:t>
                      </a:r>
                      <a:endParaRPr sz="1000" b="1"/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23661665" name="Rectangle 17"/>
          <p:cNvSpPr/>
          <p:nvPr/>
        </p:nvSpPr>
        <p:spPr bwMode="auto">
          <a:xfrm>
            <a:off x="274320" y="5102352"/>
            <a:ext cx="7772400" cy="1463040"/>
          </a:xfrm>
          <a:prstGeom prst="rect">
            <a:avLst/>
          </a:prstGeom>
          <a:solidFill>
            <a:srgbClr val="EAF0F8"/>
          </a:solidFill>
          <a:ln w="31750">
            <a:solidFill>
              <a:srgbClr val="1A1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4155465" name="TextBox 18"/>
          <p:cNvSpPr txBox="1"/>
          <p:nvPr/>
        </p:nvSpPr>
        <p:spPr bwMode="auto">
          <a:xfrm>
            <a:off x="411480" y="5166360"/>
            <a:ext cx="7498438" cy="33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1" i="0">
                <a:solidFill>
                  <a:srgbClr val="1A1A3E"/>
                </a:solidFill>
              </a:rPr>
              <a:t>La conclusión del análisis:</a:t>
            </a:r>
            <a:endParaRPr sz="1600"/>
          </a:p>
        </p:txBody>
      </p:sp>
      <p:sp>
        <p:nvSpPr>
          <p:cNvPr id="1069365969" name="TextBox 19"/>
          <p:cNvSpPr txBox="1"/>
          <p:nvPr/>
        </p:nvSpPr>
        <p:spPr bwMode="auto">
          <a:xfrm>
            <a:off x="411480" y="5440680"/>
            <a:ext cx="7499518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55566"/>
                </a:solidFill>
              </a:rPr>
              <a:t>• 3.4M productores electrónicos en MX+CO+BR. El 88% nunca tuvo mentoría en tiempo real.</a:t>
            </a:r>
            <a:endParaRPr sz="1400" b="1"/>
          </a:p>
        </p:txBody>
      </p:sp>
      <p:sp>
        <p:nvSpPr>
          <p:cNvPr id="514327005" name="TextBox 20"/>
          <p:cNvSpPr txBox="1"/>
          <p:nvPr/>
        </p:nvSpPr>
        <p:spPr bwMode="auto">
          <a:xfrm flipH="0" flipV="0">
            <a:off x="411479" y="5696712"/>
            <a:ext cx="763596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55566"/>
                </a:solidFill>
              </a:rPr>
              <a:t>• Solo 12% del contenido educativo de electrónica está en español. Demanda: 340K búsquedas/mes.</a:t>
            </a:r>
            <a:endParaRPr sz="1400" b="1"/>
          </a:p>
        </p:txBody>
      </p:sp>
      <p:sp>
        <p:nvSpPr>
          <p:cNvPr id="2109014619" name="TextBox 21"/>
          <p:cNvSpPr txBox="1"/>
          <p:nvPr/>
        </p:nvSpPr>
        <p:spPr bwMode="auto">
          <a:xfrm>
            <a:off x="410400" y="5978030"/>
            <a:ext cx="7499518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555566"/>
                </a:solidFill>
              </a:rPr>
              <a:t>• Colombia +31% YoY — mayor crecimiento LATAM → Laura Katic / Caperooza: ICA estratégica.</a:t>
            </a:r>
            <a:endParaRPr sz="1400" b="1"/>
          </a:p>
        </p:txBody>
      </p:sp>
      <p:sp>
        <p:nvSpPr>
          <p:cNvPr id="1461151499" name="TextBox 22"/>
          <p:cNvSpPr txBox="1"/>
          <p:nvPr/>
        </p:nvSpPr>
        <p:spPr bwMode="auto">
          <a:xfrm>
            <a:off x="411480" y="6208776"/>
            <a:ext cx="7499158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1A1A3E"/>
                </a:solidFill>
              </a:rPr>
              <a:t>• GZBR = única plataforma: español + JackTrip + Skool + hardware accesible + ICA 20%.</a:t>
            </a:r>
            <a:endParaRPr sz="1400"/>
          </a:p>
        </p:txBody>
      </p:sp>
      <p:sp>
        <p:nvSpPr>
          <p:cNvPr id="1934830014" name="Rectangle 23"/>
          <p:cNvSpPr/>
          <p:nvPr/>
        </p:nvSpPr>
        <p:spPr bwMode="auto">
          <a:xfrm>
            <a:off x="8229600" y="4956048"/>
            <a:ext cx="914400" cy="1609344"/>
          </a:xfrm>
          <a:prstGeom prst="rect">
            <a:avLst/>
          </a:prstGeom>
          <a:solidFill>
            <a:srgbClr val="F4F6FA"/>
          </a:solidFill>
          <a:ln w="3175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1910048" name="TextBox 24"/>
          <p:cNvSpPr txBox="1"/>
          <p:nvPr/>
        </p:nvSpPr>
        <p:spPr bwMode="auto">
          <a:xfrm flipH="0" flipV="0">
            <a:off x="8104467" y="5029199"/>
            <a:ext cx="1192680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Módulo Premium</a:t>
            </a:r>
            <a:endParaRPr sz="1200" b="1"/>
          </a:p>
        </p:txBody>
      </p:sp>
      <p:sp>
        <p:nvSpPr>
          <p:cNvPr id="1173305893" name="TextBox 25"/>
          <p:cNvSpPr txBox="1"/>
          <p:nvPr/>
        </p:nvSpPr>
        <p:spPr bwMode="auto">
          <a:xfrm>
            <a:off x="8229600" y="546811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007A99"/>
                </a:solidFill>
              </a:rPr>
              <a:t>$48/mes</a:t>
            </a:r>
            <a:endParaRPr/>
          </a:p>
        </p:txBody>
      </p:sp>
      <p:sp>
        <p:nvSpPr>
          <p:cNvPr id="1042761659" name="Rectangle 26"/>
          <p:cNvSpPr/>
          <p:nvPr/>
        </p:nvSpPr>
        <p:spPr bwMode="auto">
          <a:xfrm>
            <a:off x="9198864" y="4956048"/>
            <a:ext cx="914400" cy="1609344"/>
          </a:xfrm>
          <a:prstGeom prst="rect">
            <a:avLst/>
          </a:prstGeom>
          <a:solidFill>
            <a:srgbClr val="F4F6FA"/>
          </a:solidFill>
          <a:ln w="317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0982962" name="TextBox 27"/>
          <p:cNvSpPr txBox="1"/>
          <p:nvPr/>
        </p:nvSpPr>
        <p:spPr bwMode="auto">
          <a:xfrm flipH="0" flipV="0">
            <a:off x="9073731" y="5029199"/>
            <a:ext cx="1192680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Módul</a:t>
            </a:r>
            <a:r>
              <a:rPr sz="1200" b="1" i="0">
                <a:solidFill>
                  <a:srgbClr val="555566"/>
                </a:solidFill>
              </a:rPr>
              <a:t>10 </a:t>
            </a:r>
            <a:r>
              <a:rPr sz="1200" b="1" i="0">
                <a:solidFill>
                  <a:srgbClr val="555566"/>
                </a:solidFill>
              </a:rPr>
              <a:t>o 10 VIP</a:t>
            </a:r>
            <a:endParaRPr sz="1200" b="1"/>
          </a:p>
        </p:txBody>
      </p:sp>
      <p:sp>
        <p:nvSpPr>
          <p:cNvPr id="734004606" name="TextBox 28"/>
          <p:cNvSpPr txBox="1"/>
          <p:nvPr/>
        </p:nvSpPr>
        <p:spPr bwMode="auto">
          <a:xfrm flipH="0" flipV="0">
            <a:off x="9073731" y="5468112"/>
            <a:ext cx="1040971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6A1B9A"/>
                </a:solidFill>
              </a:rPr>
              <a:t>$120/mes</a:t>
            </a:r>
            <a:endParaRPr/>
          </a:p>
        </p:txBody>
      </p:sp>
      <p:sp>
        <p:nvSpPr>
          <p:cNvPr id="729373828" name="Rectangle 29"/>
          <p:cNvSpPr/>
          <p:nvPr/>
        </p:nvSpPr>
        <p:spPr bwMode="auto">
          <a:xfrm>
            <a:off x="10168128" y="4956048"/>
            <a:ext cx="914400" cy="1609344"/>
          </a:xfrm>
          <a:prstGeom prst="rect">
            <a:avLst/>
          </a:prstGeom>
          <a:solidFill>
            <a:srgbClr val="F4F6FA"/>
          </a:solidFill>
          <a:ln w="31750">
            <a:solidFill>
              <a:srgbClr val="D84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9547469" name="TextBox 30"/>
          <p:cNvSpPr txBox="1"/>
          <p:nvPr/>
        </p:nvSpPr>
        <p:spPr bwMode="auto">
          <a:xfrm flipH="0" flipV="0">
            <a:off x="10042995" y="5029199"/>
            <a:ext cx="1192680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Módulos Cápsula</a:t>
            </a:r>
            <a:endParaRPr sz="1200" b="1"/>
          </a:p>
        </p:txBody>
      </p:sp>
      <p:sp>
        <p:nvSpPr>
          <p:cNvPr id="75464321" name="TextBox 31"/>
          <p:cNvSpPr txBox="1"/>
          <p:nvPr/>
        </p:nvSpPr>
        <p:spPr bwMode="auto">
          <a:xfrm flipH="0" flipV="0">
            <a:off x="10042995" y="5468112"/>
            <a:ext cx="1040251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D84315"/>
                </a:solidFill>
              </a:rPr>
              <a:t>3 + Showcase</a:t>
            </a:r>
            <a:endParaRPr/>
          </a:p>
        </p:txBody>
      </p:sp>
      <p:sp>
        <p:nvSpPr>
          <p:cNvPr id="437751881" name="Rectangle 32"/>
          <p:cNvSpPr/>
          <p:nvPr/>
        </p:nvSpPr>
        <p:spPr bwMode="auto">
          <a:xfrm>
            <a:off x="11137392" y="4956048"/>
            <a:ext cx="914400" cy="1609344"/>
          </a:xfrm>
          <a:prstGeom prst="rect">
            <a:avLst/>
          </a:prstGeom>
          <a:solidFill>
            <a:srgbClr val="F4F6FA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9213568" name="TextBox 33"/>
          <p:cNvSpPr txBox="1"/>
          <p:nvPr/>
        </p:nvSpPr>
        <p:spPr bwMode="auto">
          <a:xfrm flipH="0" flipV="0">
            <a:off x="11012259" y="5029199"/>
            <a:ext cx="1192680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55566"/>
                </a:solidFill>
              </a:rPr>
              <a:t>ICA Compensación</a:t>
            </a:r>
            <a:endParaRPr sz="1200" b="1"/>
          </a:p>
        </p:txBody>
      </p:sp>
      <p:sp>
        <p:nvSpPr>
          <p:cNvPr id="883051363" name="TextBox 34"/>
          <p:cNvSpPr txBox="1"/>
          <p:nvPr/>
        </p:nvSpPr>
        <p:spPr bwMode="auto">
          <a:xfrm>
            <a:off x="11137392" y="546811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2E7D32"/>
                </a:solidFill>
              </a:rPr>
              <a:t>20% híbrido</a:t>
            </a:r>
            <a:endParaRPr/>
          </a:p>
        </p:txBody>
      </p:sp>
      <p:sp>
        <p:nvSpPr>
          <p:cNvPr id="524203921" name="Rectangle 35"/>
          <p:cNvSpPr/>
          <p:nvPr/>
        </p:nvSpPr>
        <p:spPr bwMode="auto">
          <a:xfrm>
            <a:off x="0" y="6565392"/>
            <a:ext cx="12188952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0221363" name="TextBox 36"/>
          <p:cNvSpPr txBox="1"/>
          <p:nvPr/>
        </p:nvSpPr>
        <p:spPr bwMode="auto"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700" b="0" i="0">
                <a:solidFill>
                  <a:srgbClr val="555566"/>
                </a:solidFill>
              </a:rPr>
              <a:t>GZBR GuitarZero to BandRock — Módulo 10: Electrónica Global — V8.3 — Mar 2026 — Uso interno ICA. No distribuir sin autorización.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2026-03-30T02:59:42Z</dcterms:modified>
  <cp:category/>
</cp:coreProperties>
</file>